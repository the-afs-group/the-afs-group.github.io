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ifespanfitness.com.au/products/pr-5-folding-functional-trainer-and-power-rack" TargetMode="External"/><Relationship Id="rId3" Type="http://schemas.openxmlformats.org/officeDocument/2006/relationships/hyperlink" Target="https://www.gymandfitness.com.au/products/force-usa-g3-all-in-one-trainer-v2" TargetMode="External"/><Relationship Id="rId4" Type="http://schemas.openxmlformats.org/officeDocument/2006/relationships/hyperlink" Target="https://www.lifespanfitness.com.au/collections/functional-trainers" TargetMode="External"/><Relationship Id="rId5" Type="http://schemas.openxmlformats.org/officeDocument/2006/relationships/hyperlink" Target="https://www.gymandfitness.com.au/products/force-usa-g12-all-in-one-trainer" TargetMode="External"/><Relationship Id="rId6" Type="http://schemas.openxmlformats.org/officeDocument/2006/relationships/hyperlink" Target="https://www.gymandfitness.com.au/products/force-usa-functional-trainer" TargetMode="External"/><Relationship Id="rId7" Type="http://schemas.openxmlformats.org/officeDocument/2006/relationships/hyperlink" Target="https://bellsofsteel.au/products/functional-trainer-weight-stack" TargetMode="External"/><Relationship Id="rId8" Type="http://schemas.openxmlformats.org/officeDocument/2006/relationships/hyperlink" Target="https://www.gymandfitness.com.au/products/force-usa-pt-power-rack-lat-pull-down-attachmen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stco.com.au/Sports-Fitness/Exercise-Fitness/Gym-Equipment/Marcy-Home-Gym-With-68kg-Weight-Stack/p/1942257" TargetMode="External"/><Relationship Id="rId3" Type="http://schemas.openxmlformats.org/officeDocument/2006/relationships/hyperlink" Target="https://worldfitness.com.au/products/bodyworx-multi-station-home-gym-200lbs" TargetMode="External"/><Relationship Id="rId4" Type="http://schemas.openxmlformats.org/officeDocument/2006/relationships/hyperlink" Target="https://fitnesswarehouse.com.au/products/bodyworx-home-gym-lbx300g" TargetMode="External"/><Relationship Id="rId5" Type="http://schemas.openxmlformats.org/officeDocument/2006/relationships/hyperlink" Target="https://www.lifespanfitness.com.au/products/cortex-gs7-multi-station-multi-function-home-gym-with-power-tower-squat-press" TargetMode="External"/><Relationship Id="rId6" Type="http://schemas.openxmlformats.org/officeDocument/2006/relationships/hyperlink" Target="https://southernxfitness.com.au/products/cross-x300-home-gym" TargetMode="External"/><Relationship Id="rId7" Type="http://schemas.openxmlformats.org/officeDocument/2006/relationships/hyperlink" Target="https://worldfitness.com.au/products/body-iron-multi-station-home-gym-with-leg-press-bhg8000-adjustable-cable-station" TargetMode="External"/><Relationship Id="rId8" Type="http://schemas.openxmlformats.org/officeDocument/2006/relationships/hyperlink" Target="https://bestfitness.com.au/products/powerline-plpx-leg-press-attachment-for-p1x-p2x-home-gy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ulcanfitness.com.au/collections/racks" TargetMode="External"/><Relationship Id="rId3" Type="http://schemas.openxmlformats.org/officeDocument/2006/relationships/hyperlink" Target="https://gymdirect.com.au/collections/squat-racks" TargetMode="External"/><Relationship Id="rId4" Type="http://schemas.openxmlformats.org/officeDocument/2006/relationships/hyperlink" Target="https://www.aussiefitness.com.au/p/commando-half-rack/C-516HR" TargetMode="External"/><Relationship Id="rId5" Type="http://schemas.openxmlformats.org/officeDocument/2006/relationships/hyperlink" Target="https://samsfitness.com.au/equipment/half-racks-squat-racks-and-stands/" TargetMode="External"/><Relationship Id="rId6" Type="http://schemas.openxmlformats.org/officeDocument/2006/relationships/hyperlink" Target="https://www.gymandfitness.com.au/products/force-usa-half-power-rack" TargetMode="External"/><Relationship Id="rId7" Type="http://schemas.openxmlformats.org/officeDocument/2006/relationships/hyperlink" Target="https://bestfitness.com.au/products/best-fitness-power-rack" TargetMode="External"/><Relationship Id="rId8" Type="http://schemas.openxmlformats.org/officeDocument/2006/relationships/hyperlink" Target="https://www.gymandfitness.com.au/products/force-usa-pt-power-rack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ymandfitness.com.au/products/force-usa-compact-leg-press-hack-squat" TargetMode="External"/><Relationship Id="rId3" Type="http://schemas.openxmlformats.org/officeDocument/2006/relationships/hyperlink" Target="https://bellsofsteel.au/products/leg-press-hack-squat-set" TargetMode="External"/><Relationship Id="rId4" Type="http://schemas.openxmlformats.org/officeDocument/2006/relationships/hyperlink" Target="https://www.bunnings.com.au/powertrain-multi-station-home-gym-chin-up-pull-up-tower_p0184275" TargetMode="External"/><Relationship Id="rId5" Type="http://schemas.openxmlformats.org/officeDocument/2006/relationships/hyperlink" Target="https://www.lifespanfitness.com.au/products/cortex-pt-105-commercial-power-tower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verfit.com.au/products/everfit-adjustable-weight-bench" TargetMode="External"/><Relationship Id="rId3" Type="http://schemas.openxmlformats.org/officeDocument/2006/relationships/hyperlink" Target="https://gymdirect.com.au/collections/flat-benches" TargetMode="External"/><Relationship Id="rId4" Type="http://schemas.openxmlformats.org/officeDocument/2006/relationships/hyperlink" Target="https://www.lifespanfitness.com.au/products/bn-9-fid-adjustable-exercise-bench" TargetMode="External"/><Relationship Id="rId5" Type="http://schemas.openxmlformats.org/officeDocument/2006/relationships/hyperlink" Target="https://247gymequipment.com.au/products/adjustable-fid-weight-bench" TargetMode="External"/><Relationship Id="rId6" Type="http://schemas.openxmlformats.org/officeDocument/2006/relationships/hyperlink" Target="https://flexequipment.com.au/products/armortech-fid-379-adjustable-weight-bench-with-preacher-curl-and-leg-extension" TargetMode="External"/><Relationship Id="rId7" Type="http://schemas.openxmlformats.org/officeDocument/2006/relationships/hyperlink" Target="https://www.gymandfitness.com.au/products/force-usa-fid-bench-with-arm-and-leg-developer" TargetMode="External"/><Relationship Id="rId8" Type="http://schemas.openxmlformats.org/officeDocument/2006/relationships/hyperlink" Target="https://www.trojanfitness.com.au/products/exercise-bench-fid-heavy-duty-leg-curl-developer-copy" TargetMode="External"/><Relationship Id="rId9" Type="http://schemas.openxmlformats.org/officeDocument/2006/relationships/hyperlink" Target="https://everfit.com.au/products/everfit-multi-station-weight-bench-press-weights-equipment-fitness-home-gym-red" TargetMode="External"/><Relationship Id="rId10" Type="http://schemas.openxmlformats.org/officeDocument/2006/relationships/hyperlink" Target="https://www.fitness-hero.com.au/collections/bench-press" TargetMode="External"/><Relationship Id="rId11" Type="http://schemas.openxmlformats.org/officeDocument/2006/relationships/hyperlink" Target="https://kintafitness.com.au/product/preacher-curl-bench-attachment/" TargetMode="External"/><Relationship Id="rId12" Type="http://schemas.openxmlformats.org/officeDocument/2006/relationships/hyperlink" Target="https://fitnessmasters.com.au/product/body-solid-preacher-curl-bench-attachment/" TargetMode="External"/><Relationship Id="rId13" Type="http://schemas.openxmlformats.org/officeDocument/2006/relationships/hyperlink" Target="https://www.aussiefitness.com.au/p/gymking-ub-pro-lat-attachment/GK-UBPRO-LAT" TargetMode="External"/><Relationship Id="rId14" Type="http://schemas.openxmlformats.org/officeDocument/2006/relationships/hyperlink" Target="https://dshop.com.au/products/lat-pulldown-bar-for-fitplus-weight-bench-pull-down-only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verfit.com.au/products/everfit-dumbbells-rack-dumbbell-kettlebell-stand-home-gym-storage-200kg-capacity" TargetMode="External"/><Relationship Id="rId3" Type="http://schemas.openxmlformats.org/officeDocument/2006/relationships/hyperlink" Target="https://247gymequipment.com.au/products/multi-purpose-gym-storage-rack" TargetMode="External"/><Relationship Id="rId4" Type="http://schemas.openxmlformats.org/officeDocument/2006/relationships/hyperlink" Target="https://www.bigw.com.au/p/9900121015" TargetMode="External"/><Relationship Id="rId5" Type="http://schemas.openxmlformats.org/officeDocument/2006/relationships/hyperlink" Target="https://www.bunnings.com.au/weight-plates-storage-rack-weight-tree_p0429832" TargetMode="External"/><Relationship Id="rId6" Type="http://schemas.openxmlformats.org/officeDocument/2006/relationships/hyperlink" Target="https://www.bunnings.com.au/bodyworx-olympic-weight-plate-tree-rack-w-bar-holder-home-gym-storage-73x113cm_p0966512" TargetMode="External"/><Relationship Id="rId7" Type="http://schemas.openxmlformats.org/officeDocument/2006/relationships/hyperlink" Target="https://www.gymandfitness.com.au/products/forceusa-bumper-plate-and-barbell-storage-tree" TargetMode="External"/><Relationship Id="rId8" Type="http://schemas.openxmlformats.org/officeDocument/2006/relationships/hyperlink" Target="https://www.gymandfitness.com.au/collections/weight-plate-storage" TargetMode="External"/><Relationship Id="rId9" Type="http://schemas.openxmlformats.org/officeDocument/2006/relationships/hyperlink" Target="https://gymdirect.com.au/products/3-tier-dumbbell-rack-150cm" TargetMode="External"/><Relationship Id="rId10" Type="http://schemas.openxmlformats.org/officeDocument/2006/relationships/hyperlink" Target="https://smai.com.au/products/3-tier-dumbbell-rack" TargetMode="External"/><Relationship Id="rId11" Type="http://schemas.openxmlformats.org/officeDocument/2006/relationships/hyperlink" Target="https://commercialfitnessequipment.com.au/collections/dumbbell-racks-1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26422"/>
                </a:solidFill>
                <a:latin typeface="Archivo"/>
              </a:rPr>
              <a:t>AFS GROUP · REBEL PRIVATE LABEL</a:t>
            </a:r>
          </a:p>
          <a:p>
            <a:pPr algn="l">
              <a:lnSpc>
                <a:spcPct val="95000"/>
              </a:lnSpc>
              <a:spcBef>
                <a:spcPts val="1400"/>
              </a:spcBef>
            </a:pPr>
            <a:r>
              <a:rPr sz="4600" b="1">
                <a:solidFill>
                  <a:srgbClr val="FFFFFF"/>
                </a:solidFill>
                <a:latin typeface="Archivo"/>
              </a:rPr>
              <a:t>CELSIUS RANGE</a:t>
            </a:r>
          </a:p>
          <a:p>
            <a:pPr algn="l">
              <a:lnSpc>
                <a:spcPct val="95000"/>
              </a:lnSpc>
            </a:pPr>
            <a:r>
              <a:rPr sz="4600" b="1">
                <a:solidFill>
                  <a:srgbClr val="F26422"/>
                </a:solidFill>
                <a:latin typeface="Archivo"/>
              </a:rPr>
              <a:t>MARKET PRICE BENCHMARK</a:t>
            </a:r>
          </a:p>
          <a:p>
            <a:pPr algn="l">
              <a:lnSpc>
                <a:spcPct val="110000"/>
              </a:lnSpc>
              <a:spcBef>
                <a:spcPts val="1800"/>
              </a:spcBef>
            </a:pPr>
            <a:r>
              <a:rPr sz="1700" b="0">
                <a:solidFill>
                  <a:srgbClr val="C8D2DC"/>
                </a:solidFill>
                <a:latin typeface="Lato"/>
              </a:rPr>
              <a:t>The 23 SKUs of the refreshed Celsius range, benchmarked against live Australian retail pricing across value and specialist channels.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869E"/>
                </a:solidFill>
                <a:latin typeface="Archivo"/>
              </a:rPr>
              <a:t>8 SEPTEMBER 2026 · THE AFS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6422"/>
                </a:solidFill>
                <a:latin typeface="Archivo"/>
              </a:rPr>
              <a:t>APPROACH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323"/>
                </a:solidFill>
                <a:latin typeface="Archivo"/>
              </a:rPr>
              <a:t>HOW WE READ THE MARKET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>
                <a:solidFill>
                  <a:srgbClr val="545049"/>
                </a:solidFill>
                <a:latin typeface="Lato"/>
              </a:rPr>
              <a:t>One method applied across all 23 SKUs, so the verdicts are comparable line to 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3566160" cy="2377440"/>
          </a:xfrm>
          <a:prstGeom prst="rect">
            <a:avLst/>
          </a:prstGeom>
          <a:solidFill>
            <a:srgbClr val="E3DFD6"/>
          </a:solidFill>
          <a:ln>
            <a:solidFill>
              <a:srgbClr val="D8D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l"/>
            <a:r>
              <a:rPr sz="1600" b="1">
                <a:solidFill>
                  <a:srgbClr val="232323"/>
                </a:solidFill>
                <a:latin typeface="Archivo"/>
              </a:rPr>
              <a:t>What this is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>
                <a:solidFill>
                  <a:srgbClr val="545049"/>
                </a:solidFill>
                <a:latin typeface="Lato"/>
              </a:rPr>
              <a:t>An independent price benchmark of the proposed Celsius RRPs against the live Australian market — a pressure-test before pricing is locked.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286000"/>
            <a:ext cx="3566160" cy="2377440"/>
          </a:xfrm>
          <a:prstGeom prst="rect">
            <a:avLst/>
          </a:prstGeom>
          <a:solidFill>
            <a:srgbClr val="E3DFD6"/>
          </a:solidFill>
          <a:ln>
            <a:solidFill>
              <a:srgbClr val="D8D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l"/>
            <a:r>
              <a:rPr sz="1600" b="1">
                <a:solidFill>
                  <a:srgbClr val="232323"/>
                </a:solidFill>
                <a:latin typeface="Archivo"/>
              </a:rPr>
              <a:t>Two channels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>
                <a:solidFill>
                  <a:srgbClr val="545049"/>
                </a:solidFill>
                <a:latin typeface="Lato"/>
              </a:rPr>
              <a:t>Value / mass (Rebel, Amazon, Kmart, BIG W, Bunnings, Lifespan, Gym Direct, Everfit) and fitness specialists (Gym &amp; Fitness, Force USA, Bells of Steel, Sam’s, Vulcan, SMAI).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59" y="2286000"/>
            <a:ext cx="3566160" cy="2377440"/>
          </a:xfrm>
          <a:prstGeom prst="rect">
            <a:avLst/>
          </a:prstGeom>
          <a:solidFill>
            <a:srgbClr val="E3DFD6"/>
          </a:solidFill>
          <a:ln>
            <a:solidFill>
              <a:srgbClr val="D8D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l"/>
            <a:r>
              <a:rPr sz="1600" b="1">
                <a:solidFill>
                  <a:srgbClr val="232323"/>
                </a:solidFill>
                <a:latin typeface="Archivo"/>
              </a:rPr>
              <a:t>Method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>
                <a:solidFill>
                  <a:srgbClr val="545049"/>
                </a:solidFill>
                <a:latin typeface="Lato"/>
              </a:rPr>
              <a:t>Closest spec-comparable model per SKU, live advertised price on 8 Sep 2026, rated under / at / over the comparable band.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834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45049"/>
                </a:solidFill>
                <a:latin typeface="Lato"/>
              </a:rPr>
              <a:t>Caveats before quoting: many comparators captured mid-sale (gaps widen vs regular RRP); Force USA &amp; Gym &amp; Fitness are AFS’s own brands, used as anchors; Rebel’s own Celsius shelf prices are indicative, confirm in-browser.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6422"/>
                </a:solidFill>
                <a:latin typeface="Archivo"/>
              </a:rPr>
              <a:t>THE RANGE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323"/>
                </a:solidFill>
                <a:latin typeface="Archivo"/>
              </a:rPr>
              <a:t>WHAT WE BENCHMARKED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>
                <a:solidFill>
                  <a:srgbClr val="545049"/>
                </a:solidFill>
                <a:latin typeface="Lato"/>
              </a:rPr>
              <a:t>From a $109 plate tree to a $2,599 all-in-one trainer.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2788920" cy="2103120"/>
          </a:xfrm>
          <a:prstGeom prst="rect">
            <a:avLst/>
          </a:prstGeom>
          <a:solidFill>
            <a:srgbClr val="FBE7DD"/>
          </a:solidFill>
          <a:ln>
            <a:solidFill>
              <a:srgbClr val="F26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l"/>
            <a:r>
              <a:rPr sz="1100" b="1">
                <a:solidFill>
                  <a:srgbClr val="F26422"/>
                </a:solidFill>
                <a:latin typeface="Archivo"/>
              </a:rPr>
              <a:t>SKUS BENCHMARKED</a:t>
            </a:r>
          </a:p>
          <a:p>
            <a:pPr algn="l">
              <a:spcBef>
                <a:spcPts val="600"/>
              </a:spcBef>
            </a:pPr>
            <a:r>
              <a:rPr sz="4400" b="1">
                <a:solidFill>
                  <a:srgbClr val="F26422"/>
                </a:solidFill>
                <a:latin typeface="Archivo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59" y="2468880"/>
            <a:ext cx="2788920" cy="2103120"/>
          </a:xfrm>
          <a:prstGeom prst="rect">
            <a:avLst/>
          </a:prstGeom>
          <a:solidFill>
            <a:srgbClr val="FBE7DD"/>
          </a:solidFill>
          <a:ln>
            <a:solidFill>
              <a:srgbClr val="F26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l"/>
            <a:r>
              <a:rPr sz="1100" b="1">
                <a:solidFill>
                  <a:srgbClr val="F26422"/>
                </a:solidFill>
                <a:latin typeface="Archivo"/>
              </a:rPr>
              <a:t>FULL-RANGE RRP</a:t>
            </a:r>
          </a:p>
          <a:p>
            <a:pPr algn="l">
              <a:spcBef>
                <a:spcPts val="600"/>
              </a:spcBef>
            </a:pPr>
            <a:r>
              <a:rPr sz="4400" b="1">
                <a:solidFill>
                  <a:srgbClr val="F26422"/>
                </a:solidFill>
                <a:latin typeface="Archivo"/>
              </a:rPr>
              <a:t>$16.7k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2468880"/>
            <a:ext cx="1828800" cy="2103120"/>
          </a:xfrm>
          <a:prstGeom prst="rect">
            <a:avLst/>
          </a:prstGeom>
          <a:solidFill>
            <a:srgbClr val="E3DFD6"/>
          </a:solidFill>
          <a:ln>
            <a:solidFill>
              <a:srgbClr val="D8D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l"/>
            <a:r>
              <a:rPr sz="1100" b="1">
                <a:solidFill>
                  <a:srgbClr val="545049"/>
                </a:solidFill>
                <a:latin typeface="Archivo"/>
              </a:rPr>
              <a:t>NEW TO RANGE</a:t>
            </a:r>
          </a:p>
          <a:p>
            <a:pPr algn="l">
              <a:spcBef>
                <a:spcPts val="600"/>
              </a:spcBef>
            </a:pPr>
            <a:r>
              <a:rPr sz="3400" b="1">
                <a:solidFill>
                  <a:srgbClr val="232323"/>
                </a:solidFill>
                <a:latin typeface="Archivo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468880"/>
            <a:ext cx="1828800" cy="2103120"/>
          </a:xfrm>
          <a:prstGeom prst="rect">
            <a:avLst/>
          </a:prstGeom>
          <a:solidFill>
            <a:srgbClr val="E3DFD6"/>
          </a:solidFill>
          <a:ln>
            <a:solidFill>
              <a:srgbClr val="D8D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l"/>
            <a:r>
              <a:rPr sz="1100" b="1">
                <a:solidFill>
                  <a:srgbClr val="545049"/>
                </a:solidFill>
                <a:latin typeface="Archivo"/>
              </a:rPr>
              <a:t>REPLACEMENTS</a:t>
            </a:r>
          </a:p>
          <a:p>
            <a:pPr algn="l">
              <a:spcBef>
                <a:spcPts val="600"/>
              </a:spcBef>
            </a:pPr>
            <a:r>
              <a:rPr sz="3400" b="1">
                <a:solidFill>
                  <a:srgbClr val="232323"/>
                </a:solidFill>
                <a:latin typeface="Archivo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2468880"/>
            <a:ext cx="1828800" cy="2103120"/>
          </a:xfrm>
          <a:prstGeom prst="rect">
            <a:avLst/>
          </a:prstGeom>
          <a:solidFill>
            <a:srgbClr val="E3DFD6"/>
          </a:solidFill>
          <a:ln>
            <a:solidFill>
              <a:srgbClr val="D8D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l"/>
            <a:r>
              <a:rPr sz="1100" b="1">
                <a:solidFill>
                  <a:srgbClr val="545049"/>
                </a:solidFill>
                <a:latin typeface="Archivo"/>
              </a:rPr>
              <a:t>CATEGORIES</a:t>
            </a:r>
          </a:p>
          <a:p>
            <a:pPr algn="l">
              <a:spcBef>
                <a:spcPts val="600"/>
              </a:spcBef>
            </a:pPr>
            <a:r>
              <a:rPr sz="3400" b="1">
                <a:solidFill>
                  <a:srgbClr val="232323"/>
                </a:solidFill>
                <a:latin typeface="Archivo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6422"/>
                </a:solidFill>
                <a:latin typeface="Archivo"/>
              </a:rPr>
              <a:t>EXECUTIVE SUMMARY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323"/>
                </a:solidFill>
                <a:latin typeface="Archivo"/>
              </a:rPr>
              <a:t>HOW THE RANGE PRICES AGAINST THE MARKET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>
                <a:solidFill>
                  <a:srgbClr val="545049"/>
                </a:solidFill>
                <a:latin typeface="Lato"/>
              </a:rPr>
              <a:t>Most of the range is competitively pitched; six lines sit at the top of their band, four sit clearly above their closest live comparators.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23160"/>
            <a:ext cx="35661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9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l"/>
            <a:r>
              <a:rPr sz="2200" b="1">
                <a:solidFill>
                  <a:srgbClr val="0F9D58"/>
                </a:solidFill>
                <a:latin typeface="Archivo"/>
              </a:rPr>
              <a:t>Competitive   13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232323"/>
                </a:solidFill>
                <a:latin typeface="Lato"/>
              </a:rPr>
              <a:t>C2, CDP, CLP, CHG, CHGLP, CPF, CFID, CPC, CRL, CRKA, CUR, CSWR, COWR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423160"/>
            <a:ext cx="35661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B4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l"/>
            <a:r>
              <a:rPr sz="2200" b="1">
                <a:solidFill>
                  <a:srgbClr val="B47A00"/>
                </a:solidFill>
                <a:latin typeface="Archivo"/>
              </a:rPr>
              <a:t>At ceiling   6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232323"/>
                </a:solidFill>
                <a:latin typeface="Lato"/>
              </a:rPr>
              <a:t>C1, CHGP, CSR, CPT, CFB, CSB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59" y="2423160"/>
            <a:ext cx="35661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l"/>
            <a:r>
              <a:rPr sz="2200" b="1">
                <a:solidFill>
                  <a:srgbClr val="C0394B"/>
                </a:solidFill>
                <a:latin typeface="Archivo"/>
              </a:rPr>
              <a:t>Review   4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232323"/>
                </a:solidFill>
                <a:latin typeface="Lato"/>
              </a:rPr>
              <a:t>CHR Half Rack, CFR Full Rack, COWS Barbell + Plate Tree, CDR Dumbbell 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26422"/>
                </a:solidFill>
                <a:latin typeface="Lato"/>
              </a:rPr>
              <a:t>The three racks took the range’s biggest RRP lifts (+25–33%) and are the same lines sitting at or over market — the first place to reconsider.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6422"/>
                </a:solidFill>
                <a:latin typeface="Archivo"/>
              </a:rPr>
              <a:t>BENCHMARK · 1 OF 6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323"/>
                </a:solidFill>
                <a:latin typeface="Archivo"/>
              </a:rPr>
              <a:t>ALL-IN-ONES &amp; FUNCTIONAL TRAINERS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097280"/>
                <a:gridCol w="4251960"/>
                <a:gridCol w="1463040"/>
                <a:gridCol w="1828800"/>
              </a:tblGrid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SKU / Product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Proposed RRP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Closest market comparators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Market range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Verdict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C1  All-In-One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$1,799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2"/>
                        </a:rPr>
                        <a:t>Cortex PR-5 Functional Trainer &amp; Power Rack $1,349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3"/>
                        </a:rPr>
                        <a:t>Force USA G3 All-In-One v2 $2,699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$1,350–$1,800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47A00"/>
                          </a:solidFill>
                          <a:latin typeface="Archivo"/>
                        </a:rPr>
                        <a:t>AT CEILING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C2  All-In-One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$2,599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3"/>
                        </a:rPr>
                        <a:t>Force USA G3 All-In-One v2 $2,699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4"/>
                        </a:rPr>
                        <a:t>Cortex SM-26 6-in-1 Power Rack + Smith + Cable $2,999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5"/>
                        </a:rPr>
                        <a:t>Force USA G12 All-In-One $4,999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$2,699–$5,999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CDP  Functional Trainer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$1,999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6"/>
                        </a:rPr>
                        <a:t>Force USA Functional Trainer (2×60kg, 2:1) $2,199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7"/>
                        </a:rPr>
                        <a:t>Bells of Steel Functional Trainer (dual, 2:1) $2,999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$2,199–$2,999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CRKA  Rack Cable Attachment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$299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8"/>
                        </a:rPr>
                        <a:t>Force USA PT Rack Lat Pulldown / Low Row $279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~$279–$300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45049"/>
                </a:solidFill>
                <a:latin typeface="Lato"/>
              </a:rPr>
              <a:t>C2 undercuts every comparable full all-in-one; CDP sits below the dual-stack functional-trainer peer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6422"/>
                </a:solidFill>
                <a:latin typeface="Archivo"/>
              </a:rPr>
              <a:t>BENCHMARK · 2 OF 6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323"/>
                </a:solidFill>
                <a:latin typeface="Archivo"/>
              </a:rPr>
              <a:t>MULTI-STATION HOME GYMS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097280"/>
                <a:gridCol w="4251960"/>
                <a:gridCol w="1463040"/>
                <a:gridCol w="1828800"/>
              </a:tblGrid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SKU / Product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Proposed RRP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Closest market comparators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Market range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Verdict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CHG  Home Gym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$799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2"/>
                        </a:rPr>
                        <a:t>Marcy Home Gym 68kg stack $749.99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3"/>
                        </a:rPr>
                        <a:t>Bodyworx Multi Station 200lb (91kg) $799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4"/>
                        </a:rPr>
                        <a:t>Bodyworx LBX300G (91kg) $899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$750–$899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CHGP  Home Gym Pro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$1,699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5"/>
                        </a:rPr>
                        <a:t>Cortex GS7 Multi Station (73.5kg, exp. 96.5kg) $1,399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6"/>
                        </a:rPr>
                        <a:t>Cross X300 Multi Station (72kg, incl leg press) $1,099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7"/>
                        </a:rPr>
                        <a:t>BodyIron BHG8000 (90kg, leg press + cable) $2,099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$1,099–$2,499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47A00"/>
                          </a:solidFill>
                          <a:latin typeface="Archivo"/>
                        </a:rPr>
                        <a:t>AT CEILING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CHGLP  Home Gym Leg Press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$499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8"/>
                        </a:rPr>
                        <a:t>Powerline PLPX Leg Press Attachment (add-on) $490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~$490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45049"/>
                </a:solidFill>
                <a:latin typeface="Lato"/>
              </a:rPr>
              <a:t>CHG and the leg-press add-on are on the money; CHGP is fair against RRPs but reads high against current street prices.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6422"/>
                </a:solidFill>
                <a:latin typeface="Archivo"/>
              </a:rPr>
              <a:t>BENCHMARK · 3 OF 6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323"/>
                </a:solidFill>
                <a:latin typeface="Archivo"/>
              </a:rPr>
              <a:t>RACKS &amp; SQUAT STANDS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097280"/>
                <a:gridCol w="4251960"/>
                <a:gridCol w="1463040"/>
                <a:gridCol w="1828800"/>
              </a:tblGrid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SKU / Product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Proposed RRP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Closest market comparators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Market range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Verdict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CSR  Squat Stand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$399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2"/>
                        </a:rPr>
                        <a:t>Vulcan Elite Squat Stands $399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3"/>
                        </a:rPr>
                        <a:t>Value squat stands (Morgan / Harison / Muscle Motion) $145–$350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$145–$549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47A00"/>
                          </a:solidFill>
                          <a:latin typeface="Archivo"/>
                        </a:rPr>
                        <a:t>AT CEILING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CHR  Half Rack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$799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4"/>
                        </a:rPr>
                        <a:t>Commando C-515HR Half Rack (350kg, pull-up + storage) $499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5"/>
                        </a:rPr>
                        <a:t>ATX HRX-620 Half Rack $595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6"/>
                        </a:rPr>
                        <a:t>Force USA Half Power Rack (800kg) $549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$499–$595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0394B"/>
                          </a:solidFill>
                          <a:latin typeface="Archivo"/>
                        </a:rPr>
                        <a:t>REVIEW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CFR  Full Rack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$999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7"/>
                        </a:rPr>
                        <a:t>Best Fitness BFPR100R Power Rack (227kg) $399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8"/>
                        </a:rPr>
                        <a:t>Force USA PT Power Rack (325kg) $629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2"/>
                        </a:rPr>
                        <a:t>Vulcan Home Gym Power Rack $649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$399–$649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0394B"/>
                          </a:solidFill>
                          <a:latin typeface="Archivo"/>
                        </a:rPr>
                        <a:t>REVIEW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45049"/>
                </a:solidFill>
                <a:latin typeface="Lato"/>
              </a:rPr>
              <a:t>The two enclosed racks are the clearest flags: Half Rack ~$200–$300 over the value/specialist cluster; Full Rack priced like a cage-plus-lat bundle against standalone cages.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6422"/>
                </a:solidFill>
                <a:latin typeface="Archivo"/>
              </a:rPr>
              <a:t>BENCHMARK · 4 OF 6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323"/>
                </a:solidFill>
                <a:latin typeface="Archivo"/>
              </a:rPr>
              <a:t>LEG PRESS &amp; POWER TOWER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097280"/>
                <a:gridCol w="4251960"/>
                <a:gridCol w="1463040"/>
                <a:gridCol w="1828800"/>
              </a:tblGrid>
              <a:tr h="121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SKU / Product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Proposed RRP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Closest market comparators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Market range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Verdict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</a:tr>
              <a:tr h="121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CLP  Leg Press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$1,499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2"/>
                        </a:rPr>
                        <a:t>Force USA Compact Leg Press &amp; Hack Squat (same spec) $1,469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3"/>
                        </a:rPr>
                        <a:t>Bells of Steel Leg Press / Hack Squat $2,199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$1,280–$2,200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  <a:tr h="121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CPT  Power Tower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$349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4"/>
                        </a:rPr>
                        <a:t>Powertrain J06 Multi-Station Power Tower $249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5"/>
                        </a:rPr>
                        <a:t>Cortex PT-105 Commercial Power Tower $429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$160–$430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47A00"/>
                          </a:solidFill>
                          <a:latin typeface="Archivo"/>
                        </a:rPr>
                        <a:t>AT CEILING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45049"/>
                </a:solidFill>
                <a:latin typeface="Lato"/>
              </a:rPr>
              <a:t>The Leg Press is line-ball with its Force USA twin, with room to move up; the Power Tower sits above Rebel’s own current Celsius station.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6422"/>
                </a:solidFill>
                <a:latin typeface="Archivo"/>
              </a:rPr>
              <a:t>BENCHMARK · 5 OF 6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323"/>
                </a:solidFill>
                <a:latin typeface="Archivo"/>
              </a:rPr>
              <a:t>BENCHES &amp; ATTACHMENTS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097280"/>
                <a:gridCol w="4251960"/>
                <a:gridCol w="1463040"/>
                <a:gridCol w="1828800"/>
              </a:tblGrid>
              <a:tr h="5225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SKU / Product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Proposed RRP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Closest market comparators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Market range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Verdict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</a:tr>
              <a:tr h="522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CFB  Flat Bench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$169.99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2"/>
                        </a:rPr>
                        <a:t>Everfit Flat Bench 300kg $142.99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3"/>
                        </a:rPr>
                        <a:t>Muscle Motion FB1008 Flat Bench $99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$99–$143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47A00"/>
                          </a:solidFill>
                          <a:latin typeface="Archivo"/>
                        </a:rPr>
                        <a:t>AT CEILING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  <a:tr h="522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CFID  FID Bench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$249.99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4"/>
                        </a:rPr>
                        <a:t>Cortex BN-9 FID Bench $279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5"/>
                        </a:rPr>
                        <a:t>Adjustable FID Bench 250kg (6-pos) $188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$188–$279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22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CPF  Pro FID Bench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$499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6"/>
                        </a:rPr>
                        <a:t>Armortech FID-379 (preacher + leg ext) $399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7"/>
                        </a:rPr>
                        <a:t>Force USA FID Bench w/ Arm &amp; Leg Developer $629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8"/>
                        </a:rPr>
                        <a:t>Trojan FID HD + Leg Curl + Preacher $730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$399–$730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  <a:tr h="522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CSB  Standard Bench (w/ uprights)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$349.99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9"/>
                        </a:rPr>
                        <a:t>Everfit Multi-Station Bench Press 200kg $166.99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10"/>
                        </a:rPr>
                        <a:t>Synergy Flat Bench Press Station (commercial) $765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$167–$765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47A00"/>
                          </a:solidFill>
                          <a:latin typeface="Archivo"/>
                        </a:rPr>
                        <a:t>AT CEILING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22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CPC  Preacher Curl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$119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11"/>
                        </a:rPr>
                        <a:t>Kinta Preacher Curl Bench Attachment $195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12"/>
                        </a:rPr>
                        <a:t>Body Solid Preacher Curl Attachment $199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$195–$199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  <a:tr h="5225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CRL  Bench Lat Pulldown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$159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13"/>
                        </a:rPr>
                        <a:t>GymKing UB Pro Lat Attachment $229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14"/>
                        </a:rPr>
                        <a:t>Lat Pulldown Bar for Weight Bench $69.90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$70–$229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45049"/>
                </a:solidFill>
                <a:latin typeface="Lato"/>
              </a:rPr>
              <a:t>FID bench, Pro FID, preacher curl and lat pulldown are all well-pitched; the Flat Bench and the Standard bench-with-uprights sit above the value band.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6422"/>
                </a:solidFill>
                <a:latin typeface="Archivo"/>
              </a:rPr>
              <a:t>BENCHMARK · 6 OF 6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323"/>
                </a:solidFill>
                <a:latin typeface="Archivo"/>
              </a:rPr>
              <a:t>STORAGE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097280"/>
                <a:gridCol w="4251960"/>
                <a:gridCol w="1463040"/>
                <a:gridCol w="1828800"/>
              </a:tblGrid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SKU / Product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Proposed RRP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Closest market comparators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Market range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Verdict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CUR  Universal Rack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$299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2"/>
                        </a:rPr>
                        <a:t>Everfit Dumbbell/Kettlebell Stand 2-tier (200kg) $132.99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3"/>
                        </a:rPr>
                        <a:t>Multi-Purpose Gym Storage Rack (commercial) $790.20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$130–$790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CSWR  Standard Weight Tree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$109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4"/>
                        </a:rPr>
                        <a:t>HD Standard Plate Holder 25mm, 6 collars $109.99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5"/>
                        </a:rPr>
                        <a:t>Weight Plates Storage Tree (std + olympic, 400kg) $79.95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$80–$110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COWR  Olympic Weight Tree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$129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6"/>
                        </a:rPr>
                        <a:t>Bodyworx Olympic Plate Tree + Bar Holder (50mm) $135.15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$120–$135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9D58"/>
                          </a:solidFill>
                          <a:latin typeface="Archivo"/>
                        </a:rPr>
                        <a:t>COMPETITIVE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COWS  Barbell + Plate Tree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$399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7"/>
                        </a:rPr>
                        <a:t>Force USA Bumper Plate &amp; Barbell Storage Tree (600kg, wheeled) $279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8"/>
                        </a:rPr>
                        <a:t>Nike Strength Plate Tree &amp; Barbell Holder $299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$279–$300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0394B"/>
                          </a:solidFill>
                          <a:latin typeface="Archivo"/>
                        </a:rPr>
                        <a:t>REVIEW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chivo"/>
                        </a:rPr>
                        <a:t>CDR  Dumbbell Rack (3-tier)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32323"/>
                          </a:solidFill>
                          <a:latin typeface="Archivo"/>
                        </a:rPr>
                        <a:t>$499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9"/>
                        </a:rPr>
                        <a:t>Muscle Motion DR1004 3-Tier (161cm, 500kg) $325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10"/>
                        </a:rPr>
                        <a:t>SMAI 3-Tier Dumbbell Rack (commercial) $459</a:t>
                      </a:r>
                      <a:r>
                        <a:rPr sz="1100">
                          <a:solidFill>
                            <a:srgbClr val="A9A49B"/>
                          </a:solidFill>
                          <a:latin typeface="Lato"/>
                        </a:rPr>
                        <a:t>  ·  </a:t>
                      </a:r>
                      <a:r>
                        <a:rPr sz="1100">
                          <a:solidFill>
                            <a:srgbClr val="F26422"/>
                          </a:solidFill>
                          <a:latin typeface="Lato"/>
                          <a:hlinkClick r:id="rId11"/>
                        </a:rPr>
                        <a:t>Titanium USA 3-Tier Hex Dumbbell Rack $423</a:t>
                      </a:r>
                    </a:p>
                  </a:txBody>
                  <a:tcPr anchor="ctr" marL="73152" marT="27432" marB="27432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32323"/>
                          </a:solidFill>
                          <a:latin typeface="Archivo"/>
                        </a:rPr>
                        <a:t>$325–$460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0394B"/>
                          </a:solidFill>
                          <a:latin typeface="Archivo"/>
                        </a:rPr>
                        <a:t>REVIEW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45049"/>
                </a:solidFill>
                <a:latin typeface="Lato"/>
              </a:rPr>
              <a:t>The two plate trees hold market pricing; COWS sits ~$100 over a near-identical Force USA unit and CDR sits above comparable 3-tier dumbbell racks.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6422"/>
                </a:solidFill>
                <a:latin typeface="Archivo"/>
              </a:rPr>
              <a:t>INTERNAL ANGLE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323"/>
                </a:solidFill>
                <a:latin typeface="Archivo"/>
              </a:rPr>
              <a:t>WHERE THE RRP MOVED VS TODAY’S CELSIUS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>
                <a:solidFill>
                  <a:srgbClr val="545049"/>
                </a:solidFill>
                <a:latin typeface="Lato"/>
              </a:rPr>
              <a:t>Seven replacement lines carry a price lift; seven others hold at current pricing.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2743200"/>
                <a:gridCol w="1737360"/>
                <a:gridCol w="1737360"/>
                <a:gridCol w="1600200"/>
              </a:tblGrid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SKU / Product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Current Celsius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New RRP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Change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vs Now</a:t>
                      </a:r>
                    </a:p>
                  </a:txBody>
                  <a:tcPr marL="73152" marR="54864" marT="36576" marB="36576" anchor="ctr">
                    <a:solidFill>
                      <a:srgbClr val="0E2A44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323"/>
                          </a:solidFill>
                          <a:latin typeface="Archivo"/>
                        </a:rPr>
                        <a:t>CSR  Squat Stand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45049"/>
                          </a:solidFill>
                          <a:latin typeface="Lato"/>
                        </a:rPr>
                        <a:t>SR1 $299.99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C0394B"/>
                          </a:solidFill>
                          <a:latin typeface="Archivo"/>
                        </a:rPr>
                        <a:t>$399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C0394B"/>
                          </a:solidFill>
                          <a:latin typeface="Archivo"/>
                        </a:rPr>
                        <a:t>▲ +33%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0394B"/>
                          </a:solidFill>
                          <a:latin typeface="Lato"/>
                        </a:rPr>
                        <a:t>Over market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323"/>
                          </a:solidFill>
                          <a:latin typeface="Archivo"/>
                        </a:rPr>
                        <a:t>CHR  Half Rack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45049"/>
                          </a:solidFill>
                          <a:latin typeface="Lato"/>
                        </a:rPr>
                        <a:t>RK1 $599.00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C0394B"/>
                          </a:solidFill>
                          <a:latin typeface="Archivo"/>
                        </a:rPr>
                        <a:t>$799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C0394B"/>
                          </a:solidFill>
                          <a:latin typeface="Archivo"/>
                        </a:rPr>
                        <a:t>▲ +33%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0394B"/>
                          </a:solidFill>
                          <a:latin typeface="Lato"/>
                        </a:rPr>
                        <a:t>Over market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323"/>
                          </a:solidFill>
                          <a:latin typeface="Archivo"/>
                        </a:rPr>
                        <a:t>CFR  Full Rack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45049"/>
                          </a:solidFill>
                          <a:latin typeface="Lato"/>
                        </a:rPr>
                        <a:t>RK2 $799.00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C0394B"/>
                          </a:solidFill>
                          <a:latin typeface="Archivo"/>
                        </a:rPr>
                        <a:t>$999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C0394B"/>
                          </a:solidFill>
                          <a:latin typeface="Archivo"/>
                        </a:rPr>
                        <a:t>▲ +25%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0394B"/>
                          </a:solidFill>
                          <a:latin typeface="Lato"/>
                        </a:rPr>
                        <a:t>Over market</a:t>
                      </a:r>
                    </a:p>
                  </a:txBody>
                  <a:tcPr marL="73152" marR="54864" marT="36576" marB="36576" anchor="ctr">
                    <a:solidFill>
                      <a:srgbClr val="FAE7E7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323"/>
                          </a:solidFill>
                          <a:latin typeface="Archivo"/>
                        </a:rPr>
                        <a:t>CRL  Bench Lat Pulldown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45049"/>
                          </a:solidFill>
                          <a:latin typeface="Lato"/>
                        </a:rPr>
                        <a:t>BC3 Lat $139.99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32323"/>
                          </a:solidFill>
                          <a:latin typeface="Archivo"/>
                        </a:rPr>
                        <a:t>$159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B47A00"/>
                          </a:solidFill>
                          <a:latin typeface="Archivo"/>
                        </a:rPr>
                        <a:t>+14%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45049"/>
                          </a:solidFill>
                          <a:latin typeface="Lato"/>
                        </a:rPr>
                        <a:t>Holds/on mkt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323"/>
                          </a:solidFill>
                          <a:latin typeface="Archivo"/>
                        </a:rPr>
                        <a:t>CFB  Flat Bench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45049"/>
                          </a:solidFill>
                          <a:latin typeface="Lato"/>
                        </a:rPr>
                        <a:t>BC1 $149.99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32323"/>
                          </a:solidFill>
                          <a:latin typeface="Archivo"/>
                        </a:rPr>
                        <a:t>$169.99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B47A00"/>
                          </a:solidFill>
                          <a:latin typeface="Archivo"/>
                        </a:rPr>
                        <a:t>+13%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45049"/>
                          </a:solidFill>
                          <a:latin typeface="Lato"/>
                        </a:rPr>
                        <a:t>Holds/on mkt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323"/>
                          </a:solidFill>
                          <a:latin typeface="Archivo"/>
                        </a:rPr>
                        <a:t>CSWR  Standard Weight Tree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45049"/>
                          </a:solidFill>
                          <a:latin typeface="Lato"/>
                        </a:rPr>
                        <a:t>$99.99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32323"/>
                          </a:solidFill>
                          <a:latin typeface="Archivo"/>
                        </a:rPr>
                        <a:t>$109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B47A00"/>
                          </a:solidFill>
                          <a:latin typeface="Archivo"/>
                        </a:rPr>
                        <a:t>+9%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45049"/>
                          </a:solidFill>
                          <a:latin typeface="Lato"/>
                        </a:rPr>
                        <a:t>Holds/on mkt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457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323"/>
                          </a:solidFill>
                          <a:latin typeface="Archivo"/>
                        </a:rPr>
                        <a:t>COWR  Olympic Weight Tree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45049"/>
                          </a:solidFill>
                          <a:latin typeface="Lato"/>
                        </a:rPr>
                        <a:t>$119.99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32323"/>
                          </a:solidFill>
                          <a:latin typeface="Archivo"/>
                        </a:rPr>
                        <a:t>$129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B47A00"/>
                          </a:solidFill>
                          <a:latin typeface="Archivo"/>
                        </a:rPr>
                        <a:t>+8%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45049"/>
                          </a:solidFill>
                          <a:latin typeface="Lato"/>
                        </a:rPr>
                        <a:t>Holds/on mkt</a:t>
                      </a:r>
                    </a:p>
                  </a:txBody>
                  <a:tcPr marL="73152" marR="54864" marT="36576" marB="36576" anchor="ctr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6422"/>
                </a:solidFill>
                <a:latin typeface="Lato"/>
              </a:rPr>
              <a:t>The three racks carry both the biggest lifts (+25–33%) and the over-market verdicts. A lift is defensible on genuinely upgraded steel and finish — but it needs a story the shelf can see.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6422"/>
                </a:solidFill>
                <a:latin typeface="Archivo"/>
              </a:rPr>
              <a:t>READING THE PREMIUM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323"/>
                </a:solidFill>
                <a:latin typeface="Archivo"/>
              </a:rPr>
              <a:t>PRICED FAIRLY, NOT PRICED HIGH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>
                <a:solidFill>
                  <a:srgbClr val="545049"/>
                </a:solidFill>
                <a:latin typeface="Lato"/>
              </a:rPr>
              <a:t>On the lines above the value field, the gap buys back what a rack or bench is judged on. The cheap comparators win on sticker by cutting exactly those things.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23160"/>
            <a:ext cx="4114800" cy="3200400"/>
          </a:xfrm>
          <a:prstGeom prst="rect">
            <a:avLst/>
          </a:prstGeom>
          <a:solidFill>
            <a:srgbClr val="FBF2E2"/>
          </a:solidFill>
          <a:ln>
            <a:solidFill>
              <a:srgbClr val="B4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01168" rIns="182880"/>
          <a:lstStyle/>
          <a:p>
            <a:pPr algn="l"/>
            <a:r>
              <a:rPr sz="1200" b="1">
                <a:solidFill>
                  <a:srgbClr val="B47A00"/>
                </a:solidFill>
                <a:latin typeface="Archivo"/>
              </a:rPr>
              <a:t>WHERE THE VALUE FIELD SAVES MONEY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300" b="0">
                <a:solidFill>
                  <a:srgbClr val="232323"/>
                </a:solidFill>
                <a:latin typeface="Lato"/>
              </a:rPr>
              <a:t>•  Lighter-gauge steel and lower rated load capacities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300" b="0">
                <a:solidFill>
                  <a:srgbClr val="232323"/>
                </a:solidFill>
                <a:latin typeface="Lato"/>
              </a:rPr>
              <a:t>•  Minimal or no multi-stage safety stops / spotter arms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300" b="0">
                <a:solidFill>
                  <a:srgbClr val="232323"/>
                </a:solidFill>
                <a:latin typeface="Lato"/>
              </a:rPr>
              <a:t>•  Thin single-density padding and basic hardware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300" b="0">
                <a:solidFill>
                  <a:srgbClr val="232323"/>
                </a:solidFill>
                <a:latin typeface="Lato"/>
              </a:rPr>
              <a:t>•  Flat-pack builds, short or no warranty, little local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3480" y="2423160"/>
            <a:ext cx="6537960" cy="987552"/>
          </a:xfrm>
          <a:prstGeom prst="rect">
            <a:avLst/>
          </a:prstGeom>
          <a:solidFill>
            <a:srgbClr val="E3DFD6"/>
          </a:solidFill>
          <a:ln>
            <a:solidFill>
              <a:srgbClr val="D8D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l"/>
            <a:r>
              <a:rPr sz="1500" b="1">
                <a:solidFill>
                  <a:srgbClr val="F26422"/>
                </a:solidFill>
                <a:latin typeface="Archivo"/>
              </a:rPr>
              <a:t>Safety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545049"/>
                </a:solidFill>
                <a:latin typeface="Lato"/>
              </a:rPr>
              <a:t>Multi-stage safety stops, a fully enclosed cage on the Full Rack, and higher rated capacities — the specs a customer leans on the moment a lift fails.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3480" y="3529584"/>
            <a:ext cx="6537960" cy="987552"/>
          </a:xfrm>
          <a:prstGeom prst="rect">
            <a:avLst/>
          </a:prstGeom>
          <a:solidFill>
            <a:srgbClr val="E3DFD6"/>
          </a:solidFill>
          <a:ln>
            <a:solidFill>
              <a:srgbClr val="D8D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l"/>
            <a:r>
              <a:rPr sz="1500" b="1">
                <a:solidFill>
                  <a:srgbClr val="F26422"/>
                </a:solidFill>
                <a:latin typeface="Archivo"/>
              </a:rPr>
              <a:t>Quality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545049"/>
                </a:solidFill>
                <a:latin typeface="Lato"/>
              </a:rPr>
              <a:t>Stronger, heavier steel and powder-coat finish (upgraded vs the prior generation), dual-density upholstery, and commercial builds rated for daily loading.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83480" y="4636008"/>
            <a:ext cx="6537960" cy="987552"/>
          </a:xfrm>
          <a:prstGeom prst="rect">
            <a:avLst/>
          </a:prstGeom>
          <a:solidFill>
            <a:srgbClr val="E3DFD6"/>
          </a:solidFill>
          <a:ln>
            <a:solidFill>
              <a:srgbClr val="D8D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l"/>
            <a:r>
              <a:rPr sz="1500" b="1">
                <a:solidFill>
                  <a:srgbClr val="F26422"/>
                </a:solidFill>
                <a:latin typeface="Archivo"/>
              </a:rPr>
              <a:t>Aesthetics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545049"/>
                </a:solidFill>
                <a:latin typeface="Lato"/>
              </a:rPr>
              <a:t>Refreshed design and finish that merchandises better on the shop floor and photographs better online — a real conversion driver at this price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26422"/>
                </a:solidFill>
                <a:latin typeface="Lato"/>
              </a:rPr>
              <a:t>Lead the premium argument on racks, benches and heavy storage, where safety and finish are seen and felt. On plain plate trees the quality gap is small — trim those rather than defend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6422"/>
                </a:solidFill>
                <a:latin typeface="Archivo"/>
              </a:rPr>
              <a:t>RECOMMENDATIONS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2323"/>
                </a:solidFill>
                <a:latin typeface="Archivo"/>
              </a:rPr>
              <a:t>WHERE TO LOOK BEFORE YOU LOCK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>
                <a:solidFill>
                  <a:srgbClr val="545049"/>
                </a:solidFill>
                <a:latin typeface="Lato"/>
              </a:rPr>
              <a:t>A benchmark, not a mandate — the market says most of the range is right, and points to a short list to reconsider.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109270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9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128016"/>
          <a:lstStyle/>
          <a:p>
            <a:pPr algn="l"/>
            <a:r>
              <a:rPr sz="1600" b="1">
                <a:solidFill>
                  <a:srgbClr val="232323"/>
                </a:solidFill>
                <a:latin typeface="Archivo"/>
              </a:rPr>
              <a:t>Lead with the value lines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45049"/>
                </a:solidFill>
                <a:latin typeface="Lato"/>
              </a:rPr>
              <a:t>C2 ($2,599), CDP ($1,999) and CLP ($1,499) are sharply pitched against the market — these are the lines to headline. Most accessories sit on or below market too.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47872"/>
            <a:ext cx="109270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128016"/>
          <a:lstStyle/>
          <a:p>
            <a:pPr algn="l"/>
            <a:r>
              <a:rPr sz="1600" b="1">
                <a:solidFill>
                  <a:srgbClr val="232323"/>
                </a:solidFill>
                <a:latin typeface="Archivo"/>
              </a:rPr>
              <a:t>Revisit the four over-market SKUs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45049"/>
                </a:solidFill>
                <a:latin typeface="Lato"/>
              </a:rPr>
              <a:t>Half Rack ($799), Full Rack ($999), Barbell+Plate Tree ($399) and Dumbbell Rack ($499) sit clearly above their closest live comparators. Either trim, or arm the pitch with a build / warranty / brand justification.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18304"/>
            <a:ext cx="109270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128016"/>
          <a:lstStyle/>
          <a:p>
            <a:pPr algn="l"/>
            <a:r>
              <a:rPr sz="1600" b="1">
                <a:solidFill>
                  <a:srgbClr val="232323"/>
                </a:solidFill>
                <a:latin typeface="Archivo"/>
              </a:rPr>
              <a:t>Hold the six ceiling lines with intent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45049"/>
                </a:solidFill>
                <a:latin typeface="Lato"/>
              </a:rPr>
              <a:t>C1, CHGP, Squat Stand, Power Tower, Flat Bench and Standard Bench are at the top of their bands. Fine if spec and brand carry it — but there is little headroom, and street prices sit below several.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45049"/>
                </a:solidFill>
                <a:latin typeface="Lato"/>
              </a:rPr>
              <a:t>Before quoting: several comparators were mid-sale, so gaps narrow against regular RRPs; confirm Rebel’s own current Celsius prices in-browser. Full sourced pricing table is published alongside this deck.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26422"/>
                </a:solidFill>
                <a:latin typeface="Archivo"/>
              </a:rPr>
              <a:t>CELSIUS RANGE · MARKET PRICE BENCHMARK</a:t>
            </a:r>
          </a:p>
          <a:p>
            <a:pPr algn="ctr">
              <a:lnSpc>
                <a:spcPct val="100000"/>
              </a:lnSpc>
              <a:spcBef>
                <a:spcPts val="1400"/>
              </a:spcBef>
            </a:pPr>
            <a:r>
              <a:rPr sz="3400" b="1">
                <a:solidFill>
                  <a:srgbClr val="FFFFFF"/>
                </a:solidFill>
                <a:latin typeface="Archivo"/>
              </a:rPr>
              <a:t>PRICED TO WIN ON THE LINES THAT MATTER</a:t>
            </a:r>
          </a:p>
          <a:p>
            <a:pPr algn="ctr">
              <a:spcBef>
                <a:spcPts val="1600"/>
              </a:spcBef>
            </a:pPr>
            <a:r>
              <a:rPr sz="1400" b="0">
                <a:solidFill>
                  <a:srgbClr val="9BAEBF"/>
                </a:solidFill>
                <a:latin typeface="Lato"/>
              </a:rPr>
              <a:t>Prepared by The AFS Group for the Rebel private-label team · Live pricing 8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