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LINE: we are building the business around one customer, reaching them through every channel, and measuring ourselves on gross profit, not volume.
WHO: 678 sales calls and profit-per-customer modelling. Home Gym Builder is 9% of customers and the highest profit per customer (median $1,271, 2.5x an online-only buyer). Budget Seeker is 69.5% of customers and loses money online. Performance Optimiser is profitable only with sales team contact.
HOW: omni-channel. Direct (website, sales team, AI Gym Designer, 104 designs by 30 Sep), Retail and Wholesale (Experience Centre, Rebel with a $516k first order, dealers), Commercial (mining and defence beat our best B2C customer on profit per customer).
WHAT: FY27 gross profit target $9.6M at a margin above 38%. Q1 gross profit created $1.73M. BHAG: 10,000 home gyms by 2030, 1,626 built so far.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THEME: Drop the Dead Weight. Theme target: reduce GC dead stock from $692k to under $400k. We closed at $404k, just short, in Green. It is $395k today. Reward: Flex Friday (paid day off).
THE ONE LINE: all four critical numbers landed green or better, three of four strategic initiatives are complete, and SKU rationalisation is the one still open.
INITIATIVES: Home Gym Builder plan + AI Designer (10 of 10, 104 designs vs 100 milestone; the tool still needs work to be more impactful and lead-to-sale conversion is not tracked yet). SKU health + GMROI (3 of 3). SKU rationalisation (3 of 4, website AOV listings open). Wholesale partner pricing program (8 of 8, presented to the GM; rollout planning is Q2 work).
CRITICAL NUMBERS: dead stock $404k (Green), AOV +5% vs 4% target, IDC GP% 42.6% vs 40%, gym designs 104 vs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Q2 THEME: Locked, Stocked, Loaded. Theme target: inventory fill rate from 81.7% to 95.5%. The quarter is about 21% gone.
INITIATIVES (Asana, Q2FY27): Bundles (Shanice) is Stuck, 1 of 5: cut bundle build time 50% and lift website AOV to above $2,200 by 31 Dec. Retail channel costs and benefits (Joel) On Track, 0 of 5, one step overdue. 12-month Tier 1 supplier forecast (Michelle) On Track, 0 of 3. Experience Centre plan (Adam) On Track, 3 of 8: baseline, targets and sales briefing done, walk-in lead tracking process due 6 Nov.
CRITICAL NUMBERS: fill rate 85.2% (ahead of the glide path, still red against quarter-end bands). IDC GP% 41.4% (yellow, needs about 42.1% for the rest of the quarter). Gym designs 51 this quarter, on pace, needing about 14 a week.
CONTEXT: VIP pricing went live 15 Oct with 575 leads in 5 days. BFCM runs 2 to 30 Nov. Install lead times are 2 to 3 weeks.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68" y="365751"/>
            <a:ext cx="68578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400" kern="0" dirty="0">
                <a:solidFill>
                  <a:srgbClr val="F264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FY27 ANNUAL STRATEGY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579106"/>
            <a:ext cx="11216360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THE HOME GYM BUILDER</a:t>
            </a:r>
            <a:endParaRPr lang="en-US" sz="2880" dirty="0"/>
          </a:p>
        </p:txBody>
      </p:sp>
      <p:sp>
        <p:nvSpPr>
          <p:cNvPr id="4" name="Text 2"/>
          <p:cNvSpPr txBox="1"/>
          <p:nvPr/>
        </p:nvSpPr>
        <p:spPr>
          <a:xfrm>
            <a:off x="487668" y="1066773"/>
            <a:ext cx="8381790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the No.1 choice for people building a gym at home. Every channel, at a profit.</a:t>
            </a:r>
            <a:endParaRPr lang="en-US" sz="960" dirty="0"/>
          </a:p>
        </p:txBody>
      </p:sp>
      <p:pic>
        <p:nvPicPr>
          <p:cNvPr id="5" name="Image 0" descr="logo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8" y="6446359"/>
            <a:ext cx="594345" cy="2133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7668" y="1432524"/>
            <a:ext cx="3611790" cy="4038499"/>
          </a:xfrm>
          <a:prstGeom prst="roundRect">
            <a:avLst>
              <a:gd name="adj" fmla="val 1688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289953" y="1432524"/>
            <a:ext cx="3611790" cy="4038499"/>
          </a:xfrm>
          <a:prstGeom prst="roundRect">
            <a:avLst>
              <a:gd name="adj" fmla="val 1688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84618" y="1432524"/>
            <a:ext cx="3611790" cy="4038499"/>
          </a:xfrm>
          <a:prstGeom prst="roundRect">
            <a:avLst>
              <a:gd name="adj" fmla="val 1688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8163" y="162301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BUILD FOR</a:t>
            </a:r>
            <a:endParaRPr lang="en-US" sz="780" dirty="0"/>
          </a:p>
        </p:txBody>
      </p:sp>
      <p:sp>
        <p:nvSpPr>
          <p:cNvPr id="10" name="Text 7"/>
          <p:cNvSpPr txBox="1"/>
          <p:nvPr/>
        </p:nvSpPr>
        <p:spPr>
          <a:xfrm>
            <a:off x="678163" y="2057349"/>
            <a:ext cx="3200320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Gym Builder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78163" y="2346901"/>
            <a:ext cx="164588" cy="91438"/>
          </a:xfrm>
          <a:prstGeom prst="roundRect">
            <a:avLst>
              <a:gd name="adj" fmla="val 50000"/>
            </a:avLst>
          </a:prstGeom>
          <a:solidFill>
            <a:srgbClr val="F264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4189" y="2301182"/>
            <a:ext cx="1828754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9% of customers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678163" y="2514537"/>
            <a:ext cx="3200320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Highest profit per customer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78163" y="2910767"/>
            <a:ext cx="3200320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Budget Seeker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78163" y="3200320"/>
            <a:ext cx="1270984" cy="91438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040585" y="3154601"/>
            <a:ext cx="1828754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69.5% of customers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678163" y="3367956"/>
            <a:ext cx="3200320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acquisition cost, loses money online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78163" y="3764186"/>
            <a:ext cx="3200320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 Optimiser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78163" y="4053739"/>
            <a:ext cx="230423" cy="91438"/>
          </a:xfrm>
          <a:prstGeom prst="roundRect">
            <a:avLst>
              <a:gd name="adj" fmla="val 50000"/>
            </a:avLst>
          </a:prstGeom>
          <a:solidFill>
            <a:srgbClr val="A0A0A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00024" y="4008020"/>
            <a:ext cx="1828754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12.6% of customers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78163" y="4221374"/>
            <a:ext cx="3200320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Profitable only with sales team contact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78163" y="4937637"/>
            <a:ext cx="323079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Home Gym Builder earns 2.5x the profit of an online-only buyer.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480448" y="162301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REACH THEM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4480448" y="1996390"/>
            <a:ext cx="3230799" cy="73150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70943" y="2148786"/>
            <a:ext cx="289552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670943" y="2392620"/>
            <a:ext cx="2895528" cy="18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Website, sales team, AI Gym Designer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480448" y="2849809"/>
            <a:ext cx="3230799" cy="73150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70943" y="3002205"/>
            <a:ext cx="289552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&amp; Wholesale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670943" y="3246039"/>
            <a:ext cx="2895528" cy="18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Centre, Rebel, dealers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480448" y="3703227"/>
            <a:ext cx="3230799" cy="73150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670943" y="3855624"/>
            <a:ext cx="289552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4670943" y="4099458"/>
            <a:ext cx="2895528" cy="18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Gyms, mining, defence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480448" y="4937637"/>
            <a:ext cx="3230799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Retail builds awareness, which lowers direct marketing cost.</a:t>
            </a:r>
            <a:endParaRPr lang="en-US" sz="900" dirty="0"/>
          </a:p>
        </p:txBody>
      </p:sp>
      <p:sp>
        <p:nvSpPr>
          <p:cNvPr id="34" name="Text 31"/>
          <p:cNvSpPr txBox="1"/>
          <p:nvPr/>
        </p:nvSpPr>
        <p:spPr>
          <a:xfrm>
            <a:off x="8275113" y="162301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HAS TO DELIVER</a:t>
            </a:r>
            <a:endParaRPr lang="en-US" sz="780" dirty="0"/>
          </a:p>
        </p:txBody>
      </p:sp>
      <p:sp>
        <p:nvSpPr>
          <p:cNvPr id="35" name="Text 32"/>
          <p:cNvSpPr txBox="1"/>
          <p:nvPr/>
        </p:nvSpPr>
        <p:spPr>
          <a:xfrm>
            <a:off x="8275113" y="1996390"/>
            <a:ext cx="3230799" cy="57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$9.6M</a:t>
            </a:r>
            <a:endParaRPr lang="en-US" sz="4320" dirty="0"/>
          </a:p>
        </p:txBody>
      </p:sp>
      <p:sp>
        <p:nvSpPr>
          <p:cNvPr id="36" name="Text 33"/>
          <p:cNvSpPr txBox="1"/>
          <p:nvPr/>
        </p:nvSpPr>
        <p:spPr>
          <a:xfrm>
            <a:off x="8275113" y="2605975"/>
            <a:ext cx="3230799" cy="18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FY27 gross profit target</a:t>
            </a:r>
            <a:endParaRPr lang="en-US" sz="960" dirty="0"/>
          </a:p>
        </p:txBody>
      </p:sp>
      <p:sp>
        <p:nvSpPr>
          <p:cNvPr id="37" name="Text 34"/>
          <p:cNvSpPr txBox="1"/>
          <p:nvPr/>
        </p:nvSpPr>
        <p:spPr>
          <a:xfrm>
            <a:off x="8275113" y="3047924"/>
            <a:ext cx="3230799" cy="57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&gt;38%</a:t>
            </a:r>
            <a:endParaRPr lang="en-US" sz="4320" dirty="0"/>
          </a:p>
        </p:txBody>
      </p:sp>
      <p:sp>
        <p:nvSpPr>
          <p:cNvPr id="38" name="Text 35"/>
          <p:cNvSpPr txBox="1"/>
          <p:nvPr/>
        </p:nvSpPr>
        <p:spPr>
          <a:xfrm>
            <a:off x="8275113" y="3657509"/>
            <a:ext cx="3230799" cy="18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gross profit margin target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8275113" y="4457589"/>
            <a:ext cx="3230799" cy="762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275113" y="4594745"/>
            <a:ext cx="1676358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15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 GROSS PROFIT</a:t>
            </a:r>
            <a:endParaRPr lang="en-US" sz="780" dirty="0"/>
          </a:p>
        </p:txBody>
      </p:sp>
      <p:sp>
        <p:nvSpPr>
          <p:cNvPr id="41" name="Text 38"/>
          <p:cNvSpPr txBox="1"/>
          <p:nvPr/>
        </p:nvSpPr>
        <p:spPr>
          <a:xfrm>
            <a:off x="9799075" y="4587125"/>
            <a:ext cx="1706837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$1.73M of $9.6M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275113" y="4846199"/>
            <a:ext cx="3230799" cy="91438"/>
          </a:xfrm>
          <a:prstGeom prst="roundRect">
            <a:avLst>
              <a:gd name="adj" fmla="val 41667"/>
            </a:avLst>
          </a:prstGeom>
          <a:solidFill>
            <a:srgbClr val="E2E2E2"/>
          </a:solidFill>
          <a:ln/>
        </p:spPr>
      </p:sp>
      <p:sp>
        <p:nvSpPr>
          <p:cNvPr id="43" name="Shape 40"/>
          <p:cNvSpPr/>
          <p:nvPr/>
        </p:nvSpPr>
        <p:spPr>
          <a:xfrm>
            <a:off x="8275113" y="4846199"/>
            <a:ext cx="582217" cy="91438"/>
          </a:xfrm>
          <a:prstGeom prst="roundRect">
            <a:avLst>
              <a:gd name="adj" fmla="val 41667"/>
            </a:avLst>
          </a:prstGeom>
          <a:solidFill>
            <a:srgbClr val="00000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275113" y="5029074"/>
            <a:ext cx="323079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Home gyms built: 1,626 of 10,000 by 2030.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487668" y="5631039"/>
            <a:ext cx="11216360" cy="434329"/>
          </a:xfrm>
          <a:prstGeom prst="roundRect">
            <a:avLst>
              <a:gd name="adj" fmla="val 14035"/>
            </a:avLst>
          </a:prstGeom>
          <a:solidFill>
            <a:srgbClr val="E2E2E2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670543" y="5631039"/>
            <a:ext cx="10896328" cy="434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 over profit-poor volume: the top 20% of customers deliver 130% of GAF's profit. Fix the whale, stop selling low-profit customers, products and channels.</a:t>
            </a:r>
            <a:endParaRPr lang="en-US" sz="1080" dirty="0"/>
          </a:p>
        </p:txBody>
      </p:sp>
      <p:sp>
        <p:nvSpPr>
          <p:cNvPr id="47" name="Text 44"/>
          <p:cNvSpPr txBox="1"/>
          <p:nvPr/>
        </p:nvSpPr>
        <p:spPr>
          <a:xfrm>
            <a:off x="487668" y="6156806"/>
            <a:ext cx="11216360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Sources: Strategy Day debrief (May 2026, Profit Per X); FY27 gross profit targets; GAF Master Dashboard (Q1 gross profit created); top 20% insight via Claire Mula, 8 Oct.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68" y="365751"/>
            <a:ext cx="68578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400" kern="0" dirty="0">
                <a:solidFill>
                  <a:srgbClr val="F264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 1 FY27 RECAP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579106"/>
            <a:ext cx="11216360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Q1: DROP THE DEAD WEIGHT</a:t>
            </a:r>
            <a:endParaRPr lang="en-US" sz="2880" dirty="0"/>
          </a:p>
        </p:txBody>
      </p:sp>
      <p:sp>
        <p:nvSpPr>
          <p:cNvPr id="4" name="Text 2"/>
          <p:cNvSpPr txBox="1"/>
          <p:nvPr/>
        </p:nvSpPr>
        <p:spPr>
          <a:xfrm>
            <a:off x="487668" y="1066773"/>
            <a:ext cx="8381790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Jul to 30 Sep 2026. Every critical number landed green or better.</a:t>
            </a:r>
            <a:endParaRPr lang="en-US" sz="960" dirty="0"/>
          </a:p>
        </p:txBody>
      </p:sp>
      <p:pic>
        <p:nvPicPr>
          <p:cNvPr id="5" name="Image 0" descr="logo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8" y="6446359"/>
            <a:ext cx="594345" cy="2133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7668" y="1432524"/>
            <a:ext cx="6469218" cy="4632844"/>
          </a:xfrm>
          <a:prstGeom prst="roundRect">
            <a:avLst>
              <a:gd name="adj" fmla="val 1316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0543" y="163825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INITIATIVES</a:t>
            </a:r>
            <a:endParaRPr lang="en-US" sz="780" dirty="0"/>
          </a:p>
        </p:txBody>
      </p:sp>
      <p:sp>
        <p:nvSpPr>
          <p:cNvPr id="8" name="Text 5"/>
          <p:cNvSpPr txBox="1"/>
          <p:nvPr/>
        </p:nvSpPr>
        <p:spPr>
          <a:xfrm>
            <a:off x="5432924" y="1623019"/>
            <a:ext cx="1341086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of 4 complete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670543" y="1904952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39" y="1996390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Home Gym Builder plan + AI Gym Designer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722477" y="1981150"/>
            <a:ext cx="899138" cy="21335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722477" y="1981150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822939" y="2331662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39" y="2331662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22477" y="2278323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· 10/10</a:t>
            </a:r>
            <a:endParaRPr lang="en-US" sz="840" dirty="0"/>
          </a:p>
        </p:txBody>
      </p:sp>
      <p:sp>
        <p:nvSpPr>
          <p:cNvPr id="16" name="Text 13"/>
          <p:cNvSpPr txBox="1"/>
          <p:nvPr/>
        </p:nvSpPr>
        <p:spPr>
          <a:xfrm>
            <a:off x="822939" y="2514537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 delivered, AI Designer live and wired to HubSpot. 104 designs vs 100 milestone.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Shanice Thomas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70543" y="2895528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39" y="2986965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SKU health + GMROI visibility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722477" y="2971726"/>
            <a:ext cx="899138" cy="21335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722477" y="2971726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822939" y="332223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39" y="332223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722477" y="3268898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· 3/3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822939" y="3505112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Weekly SKU health reporting live, GMROI method and dashboard in place.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Michelle Wiseman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670543" y="3886103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39" y="3977541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 50% of red and blue SKUs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722477" y="3962301"/>
            <a:ext cx="899138" cy="213355"/>
          </a:xfrm>
          <a:prstGeom prst="roundRect">
            <a:avLst>
              <a:gd name="adj" fmla="val 50000"/>
            </a:avLst>
          </a:prstGeom>
          <a:ln w="12700">
            <a:solidFill>
              <a:srgbClr val="E2E2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722477" y="3962301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660" dirty="0"/>
          </a:p>
        </p:txBody>
      </p:sp>
      <p:sp>
        <p:nvSpPr>
          <p:cNvPr id="29" name="Shape 26"/>
          <p:cNvSpPr/>
          <p:nvPr/>
        </p:nvSpPr>
        <p:spPr>
          <a:xfrm>
            <a:off x="822939" y="4312812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30" name="Shape 27"/>
          <p:cNvSpPr/>
          <p:nvPr/>
        </p:nvSpPr>
        <p:spPr>
          <a:xfrm>
            <a:off x="822939" y="4312812"/>
            <a:ext cx="3606075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722477" y="4259474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75% · 3/4</a:t>
            </a:r>
            <a:endParaRPr lang="en-US" sz="840" dirty="0"/>
          </a:p>
        </p:txBody>
      </p:sp>
      <p:sp>
        <p:nvSpPr>
          <p:cNvPr id="32" name="Text 29"/>
          <p:cNvSpPr txBox="1"/>
          <p:nvPr/>
        </p:nvSpPr>
        <p:spPr>
          <a:xfrm>
            <a:off x="822939" y="4495688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Categorisation and core lists done. Website AOV listings still open.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Chris Ward</a:t>
            </a:r>
            <a:endParaRPr lang="en-US" sz="960" dirty="0"/>
          </a:p>
        </p:txBody>
      </p:sp>
      <p:sp>
        <p:nvSpPr>
          <p:cNvPr id="33" name="Shape 30"/>
          <p:cNvSpPr/>
          <p:nvPr/>
        </p:nvSpPr>
        <p:spPr>
          <a:xfrm>
            <a:off x="670543" y="4876678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39" y="4968116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Wholesale partner pricing program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5722477" y="4952876"/>
            <a:ext cx="899138" cy="21335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722477" y="4952876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822939" y="530338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38" name="Shape 35"/>
          <p:cNvSpPr/>
          <p:nvPr/>
        </p:nvSpPr>
        <p:spPr>
          <a:xfrm>
            <a:off x="822939" y="530338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722477" y="5250049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· 8/8</a:t>
            </a:r>
            <a:endParaRPr lang="en-US" sz="840" dirty="0"/>
          </a:p>
        </p:txBody>
      </p:sp>
      <p:sp>
        <p:nvSpPr>
          <p:cNvPr id="40" name="Text 37"/>
          <p:cNvSpPr txBox="1"/>
          <p:nvPr/>
        </p:nvSpPr>
        <p:spPr>
          <a:xfrm>
            <a:off x="822939" y="5486263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Dealer audit, segmentation and tiered pricing built and presented to the GM.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Sue Lewis</a:t>
            </a:r>
            <a:endParaRPr lang="en-US" sz="960" dirty="0"/>
          </a:p>
        </p:txBody>
      </p:sp>
      <p:sp>
        <p:nvSpPr>
          <p:cNvPr id="41" name="Shape 38"/>
          <p:cNvSpPr/>
          <p:nvPr/>
        </p:nvSpPr>
        <p:spPr>
          <a:xfrm>
            <a:off x="7139762" y="1432524"/>
            <a:ext cx="4564266" cy="4632844"/>
          </a:xfrm>
          <a:prstGeom prst="roundRect">
            <a:avLst>
              <a:gd name="adj" fmla="val 1336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2637" y="163825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NUMBERS</a:t>
            </a:r>
            <a:endParaRPr lang="en-US" sz="780" dirty="0"/>
          </a:p>
        </p:txBody>
      </p:sp>
      <p:sp>
        <p:nvSpPr>
          <p:cNvPr id="43" name="Shape 40"/>
          <p:cNvSpPr/>
          <p:nvPr/>
        </p:nvSpPr>
        <p:spPr>
          <a:xfrm>
            <a:off x="9334267" y="1607780"/>
            <a:ext cx="2186885" cy="243834"/>
          </a:xfrm>
          <a:prstGeom prst="roundRect">
            <a:avLst>
              <a:gd name="adj" fmla="val 43750"/>
            </a:avLst>
          </a:prstGeom>
          <a:solidFill>
            <a:srgbClr val="F26422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9334267" y="1607780"/>
            <a:ext cx="2186885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Dead stock $692k to under $400k</a:t>
            </a:r>
            <a:endParaRPr lang="en-US" sz="840" dirty="0"/>
          </a:p>
        </p:txBody>
      </p:sp>
      <p:sp>
        <p:nvSpPr>
          <p:cNvPr id="45" name="Shape 42"/>
          <p:cNvSpPr/>
          <p:nvPr/>
        </p:nvSpPr>
        <p:spPr>
          <a:xfrm>
            <a:off x="7322637" y="1996390"/>
            <a:ext cx="2038299" cy="190495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444554" y="2118307"/>
            <a:ext cx="1794465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GC dead stock</a:t>
            </a:r>
            <a:endParaRPr lang="en-US" sz="840" dirty="0"/>
          </a:p>
        </p:txBody>
      </p:sp>
      <p:sp>
        <p:nvSpPr>
          <p:cNvPr id="47" name="Text 44"/>
          <p:cNvSpPr txBox="1"/>
          <p:nvPr/>
        </p:nvSpPr>
        <p:spPr>
          <a:xfrm>
            <a:off x="7444554" y="2362141"/>
            <a:ext cx="1794465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$404k</a:t>
            </a:r>
            <a:endParaRPr lang="en-US" sz="2880" dirty="0"/>
          </a:p>
        </p:txBody>
      </p:sp>
      <p:sp>
        <p:nvSpPr>
          <p:cNvPr id="48" name="Text 45"/>
          <p:cNvSpPr txBox="1"/>
          <p:nvPr/>
        </p:nvSpPr>
        <p:spPr>
          <a:xfrm>
            <a:off x="7444554" y="2819330"/>
            <a:ext cx="179446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down from $692k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7444554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7444554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≥$692k</a:t>
            </a:r>
            <a:endParaRPr lang="en-US" sz="660" dirty="0"/>
          </a:p>
        </p:txBody>
      </p:sp>
      <p:sp>
        <p:nvSpPr>
          <p:cNvPr id="51" name="Shape 48"/>
          <p:cNvSpPr/>
          <p:nvPr/>
        </p:nvSpPr>
        <p:spPr>
          <a:xfrm>
            <a:off x="7900790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900790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&lt;$692k</a:t>
            </a:r>
            <a:endParaRPr lang="en-US" sz="660" dirty="0"/>
          </a:p>
        </p:txBody>
      </p:sp>
      <p:sp>
        <p:nvSpPr>
          <p:cNvPr id="53" name="Shape 50"/>
          <p:cNvSpPr/>
          <p:nvPr/>
        </p:nvSpPr>
        <p:spPr>
          <a:xfrm>
            <a:off x="8357026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8357026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&lt;$550k</a:t>
            </a:r>
            <a:endParaRPr lang="en-US" sz="660" dirty="0"/>
          </a:p>
        </p:txBody>
      </p:sp>
      <p:sp>
        <p:nvSpPr>
          <p:cNvPr id="55" name="Shape 52"/>
          <p:cNvSpPr/>
          <p:nvPr/>
        </p:nvSpPr>
        <p:spPr>
          <a:xfrm>
            <a:off x="8813262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8813262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&lt;$400k</a:t>
            </a:r>
            <a:endParaRPr lang="en-US" sz="660" dirty="0"/>
          </a:p>
        </p:txBody>
      </p:sp>
      <p:sp>
        <p:nvSpPr>
          <p:cNvPr id="57" name="Text 54"/>
          <p:cNvSpPr txBox="1"/>
          <p:nvPr/>
        </p:nvSpPr>
        <p:spPr>
          <a:xfrm>
            <a:off x="7444554" y="3596550"/>
            <a:ext cx="1794465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spc="15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GREEN</a:t>
            </a:r>
            <a:endParaRPr lang="en-US" sz="720" dirty="0"/>
          </a:p>
        </p:txBody>
      </p:sp>
      <p:sp>
        <p:nvSpPr>
          <p:cNvPr id="58" name="Shape 55"/>
          <p:cNvSpPr/>
          <p:nvPr/>
        </p:nvSpPr>
        <p:spPr>
          <a:xfrm>
            <a:off x="9482853" y="1996390"/>
            <a:ext cx="2038299" cy="190495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604770" y="2118307"/>
            <a:ext cx="1794465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GAF AOV growth</a:t>
            </a:r>
            <a:endParaRPr lang="en-US" sz="840" dirty="0"/>
          </a:p>
        </p:txBody>
      </p:sp>
      <p:sp>
        <p:nvSpPr>
          <p:cNvPr id="60" name="Text 57"/>
          <p:cNvSpPr txBox="1"/>
          <p:nvPr/>
        </p:nvSpPr>
        <p:spPr>
          <a:xfrm>
            <a:off x="9604770" y="2362141"/>
            <a:ext cx="1794465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+5%</a:t>
            </a:r>
            <a:endParaRPr lang="en-US" sz="2880" dirty="0"/>
          </a:p>
        </p:txBody>
      </p:sp>
      <p:sp>
        <p:nvSpPr>
          <p:cNvPr id="61" name="Text 58"/>
          <p:cNvSpPr txBox="1"/>
          <p:nvPr/>
        </p:nvSpPr>
        <p:spPr>
          <a:xfrm>
            <a:off x="9604770" y="2819330"/>
            <a:ext cx="179446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4%</a:t>
            </a:r>
            <a:endParaRPr lang="en-US" sz="780" dirty="0"/>
          </a:p>
        </p:txBody>
      </p:sp>
      <p:sp>
        <p:nvSpPr>
          <p:cNvPr id="62" name="Shape 59"/>
          <p:cNvSpPr/>
          <p:nvPr/>
        </p:nvSpPr>
        <p:spPr>
          <a:xfrm>
            <a:off x="9604770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9604770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3%</a:t>
            </a:r>
            <a:endParaRPr lang="en-US" sz="660" dirty="0"/>
          </a:p>
        </p:txBody>
      </p:sp>
      <p:sp>
        <p:nvSpPr>
          <p:cNvPr id="64" name="Shape 61"/>
          <p:cNvSpPr/>
          <p:nvPr/>
        </p:nvSpPr>
        <p:spPr>
          <a:xfrm>
            <a:off x="10061006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10061006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3.5%</a:t>
            </a:r>
            <a:endParaRPr lang="en-US" sz="660" dirty="0"/>
          </a:p>
        </p:txBody>
      </p:sp>
      <p:sp>
        <p:nvSpPr>
          <p:cNvPr id="66" name="Shape 63"/>
          <p:cNvSpPr/>
          <p:nvPr/>
        </p:nvSpPr>
        <p:spPr>
          <a:xfrm>
            <a:off x="10517242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10517242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4%</a:t>
            </a:r>
            <a:endParaRPr lang="en-US" sz="660" dirty="0"/>
          </a:p>
        </p:txBody>
      </p:sp>
      <p:sp>
        <p:nvSpPr>
          <p:cNvPr id="68" name="Shape 65"/>
          <p:cNvSpPr/>
          <p:nvPr/>
        </p:nvSpPr>
        <p:spPr>
          <a:xfrm>
            <a:off x="10973478" y="3215560"/>
            <a:ext cx="425757" cy="76198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10973478" y="3337477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5%</a:t>
            </a:r>
            <a:endParaRPr lang="en-US" sz="660" dirty="0"/>
          </a:p>
        </p:txBody>
      </p:sp>
      <p:sp>
        <p:nvSpPr>
          <p:cNvPr id="70" name="Text 67"/>
          <p:cNvSpPr txBox="1"/>
          <p:nvPr/>
        </p:nvSpPr>
        <p:spPr>
          <a:xfrm>
            <a:off x="9604770" y="3596550"/>
            <a:ext cx="1794465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spc="15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 GREEN</a:t>
            </a:r>
            <a:endParaRPr lang="en-US" sz="720" dirty="0"/>
          </a:p>
        </p:txBody>
      </p:sp>
      <p:sp>
        <p:nvSpPr>
          <p:cNvPr id="71" name="Shape 68"/>
          <p:cNvSpPr/>
          <p:nvPr/>
        </p:nvSpPr>
        <p:spPr>
          <a:xfrm>
            <a:off x="7322637" y="4023259"/>
            <a:ext cx="2038299" cy="190495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444554" y="4145176"/>
            <a:ext cx="1794465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GAF IDC GP%</a:t>
            </a:r>
            <a:endParaRPr lang="en-US" sz="840" dirty="0"/>
          </a:p>
        </p:txBody>
      </p:sp>
      <p:sp>
        <p:nvSpPr>
          <p:cNvPr id="73" name="Text 70"/>
          <p:cNvSpPr txBox="1"/>
          <p:nvPr/>
        </p:nvSpPr>
        <p:spPr>
          <a:xfrm>
            <a:off x="7444554" y="4389010"/>
            <a:ext cx="1794465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42.6%</a:t>
            </a:r>
            <a:endParaRPr lang="en-US" sz="2880" dirty="0"/>
          </a:p>
        </p:txBody>
      </p:sp>
      <p:sp>
        <p:nvSpPr>
          <p:cNvPr id="74" name="Text 71"/>
          <p:cNvSpPr txBox="1"/>
          <p:nvPr/>
        </p:nvSpPr>
        <p:spPr>
          <a:xfrm>
            <a:off x="7444554" y="4846199"/>
            <a:ext cx="179446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above 40%</a:t>
            </a:r>
            <a:endParaRPr lang="en-US" sz="780" dirty="0"/>
          </a:p>
        </p:txBody>
      </p:sp>
      <p:sp>
        <p:nvSpPr>
          <p:cNvPr id="75" name="Shape 72"/>
          <p:cNvSpPr/>
          <p:nvPr/>
        </p:nvSpPr>
        <p:spPr>
          <a:xfrm>
            <a:off x="7444554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7444554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&lt;38%</a:t>
            </a:r>
            <a:endParaRPr lang="en-US" sz="660" dirty="0"/>
          </a:p>
        </p:txBody>
      </p:sp>
      <p:sp>
        <p:nvSpPr>
          <p:cNvPr id="77" name="Shape 74"/>
          <p:cNvSpPr/>
          <p:nvPr/>
        </p:nvSpPr>
        <p:spPr>
          <a:xfrm>
            <a:off x="7900790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7900790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38%</a:t>
            </a:r>
            <a:endParaRPr lang="en-US" sz="660" dirty="0"/>
          </a:p>
        </p:txBody>
      </p:sp>
      <p:sp>
        <p:nvSpPr>
          <p:cNvPr id="79" name="Shape 76"/>
          <p:cNvSpPr/>
          <p:nvPr/>
        </p:nvSpPr>
        <p:spPr>
          <a:xfrm>
            <a:off x="8357026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80" name="Text 77"/>
          <p:cNvSpPr txBox="1"/>
          <p:nvPr/>
        </p:nvSpPr>
        <p:spPr>
          <a:xfrm>
            <a:off x="8357026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40%</a:t>
            </a:r>
            <a:endParaRPr lang="en-US" sz="660" dirty="0"/>
          </a:p>
        </p:txBody>
      </p:sp>
      <p:sp>
        <p:nvSpPr>
          <p:cNvPr id="81" name="Shape 78"/>
          <p:cNvSpPr/>
          <p:nvPr/>
        </p:nvSpPr>
        <p:spPr>
          <a:xfrm>
            <a:off x="8813262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8813262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&gt;40%</a:t>
            </a:r>
            <a:endParaRPr lang="en-US" sz="660" dirty="0"/>
          </a:p>
        </p:txBody>
      </p:sp>
      <p:sp>
        <p:nvSpPr>
          <p:cNvPr id="83" name="Text 80"/>
          <p:cNvSpPr txBox="1"/>
          <p:nvPr/>
        </p:nvSpPr>
        <p:spPr>
          <a:xfrm>
            <a:off x="7444554" y="5623419"/>
            <a:ext cx="1794465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spc="15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 GREEN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9482853" y="4023259"/>
            <a:ext cx="2038299" cy="1904952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9604770" y="4145176"/>
            <a:ext cx="1794465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 designs created</a:t>
            </a:r>
            <a:endParaRPr lang="en-US" sz="840" dirty="0"/>
          </a:p>
        </p:txBody>
      </p:sp>
      <p:sp>
        <p:nvSpPr>
          <p:cNvPr id="86" name="Text 83"/>
          <p:cNvSpPr txBox="1"/>
          <p:nvPr/>
        </p:nvSpPr>
        <p:spPr>
          <a:xfrm>
            <a:off x="9604770" y="4389010"/>
            <a:ext cx="1794465" cy="426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104</a:t>
            </a:r>
            <a:endParaRPr lang="en-US" sz="2880" dirty="0"/>
          </a:p>
        </p:txBody>
      </p:sp>
      <p:sp>
        <p:nvSpPr>
          <p:cNvPr id="87" name="Text 84"/>
          <p:cNvSpPr txBox="1"/>
          <p:nvPr/>
        </p:nvSpPr>
        <p:spPr>
          <a:xfrm>
            <a:off x="9604770" y="4846199"/>
            <a:ext cx="1794465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target 15</a:t>
            </a:r>
            <a:endParaRPr lang="en-US" sz="780" dirty="0"/>
          </a:p>
        </p:txBody>
      </p:sp>
      <p:sp>
        <p:nvSpPr>
          <p:cNvPr id="88" name="Shape 85"/>
          <p:cNvSpPr/>
          <p:nvPr/>
        </p:nvSpPr>
        <p:spPr>
          <a:xfrm>
            <a:off x="9604770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89" name="Text 86"/>
          <p:cNvSpPr txBox="1"/>
          <p:nvPr/>
        </p:nvSpPr>
        <p:spPr>
          <a:xfrm>
            <a:off x="9604770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660" dirty="0"/>
          </a:p>
        </p:txBody>
      </p:sp>
      <p:sp>
        <p:nvSpPr>
          <p:cNvPr id="90" name="Shape 87"/>
          <p:cNvSpPr/>
          <p:nvPr/>
        </p:nvSpPr>
        <p:spPr>
          <a:xfrm>
            <a:off x="10061006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91" name="Text 88"/>
          <p:cNvSpPr txBox="1"/>
          <p:nvPr/>
        </p:nvSpPr>
        <p:spPr>
          <a:xfrm>
            <a:off x="10061006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660" dirty="0"/>
          </a:p>
        </p:txBody>
      </p:sp>
      <p:sp>
        <p:nvSpPr>
          <p:cNvPr id="92" name="Shape 89"/>
          <p:cNvSpPr/>
          <p:nvPr/>
        </p:nvSpPr>
        <p:spPr>
          <a:xfrm>
            <a:off x="10517242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E2E2E2"/>
          </a:solidFill>
          <a:ln/>
        </p:spPr>
      </p:sp>
      <p:sp>
        <p:nvSpPr>
          <p:cNvPr id="93" name="Text 90"/>
          <p:cNvSpPr txBox="1"/>
          <p:nvPr/>
        </p:nvSpPr>
        <p:spPr>
          <a:xfrm>
            <a:off x="10517242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</a:t>
            </a:r>
            <a:endParaRPr lang="en-US" sz="660" dirty="0"/>
          </a:p>
        </p:txBody>
      </p:sp>
      <p:sp>
        <p:nvSpPr>
          <p:cNvPr id="94" name="Shape 91"/>
          <p:cNvSpPr/>
          <p:nvPr/>
        </p:nvSpPr>
        <p:spPr>
          <a:xfrm>
            <a:off x="10973478" y="5242429"/>
            <a:ext cx="425757" cy="76198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10973478" y="5364346"/>
            <a:ext cx="425757" cy="121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</a:t>
            </a:r>
            <a:endParaRPr lang="en-US" sz="660" dirty="0"/>
          </a:p>
        </p:txBody>
      </p:sp>
      <p:sp>
        <p:nvSpPr>
          <p:cNvPr id="96" name="Text 93"/>
          <p:cNvSpPr txBox="1"/>
          <p:nvPr/>
        </p:nvSpPr>
        <p:spPr>
          <a:xfrm>
            <a:off x="9604770" y="5623419"/>
            <a:ext cx="1794465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spc="15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 GREEN</a:t>
            </a:r>
            <a:endParaRPr lang="en-US" sz="720" dirty="0"/>
          </a:p>
        </p:txBody>
      </p:sp>
      <p:sp>
        <p:nvSpPr>
          <p:cNvPr id="97" name="Text 94"/>
          <p:cNvSpPr txBox="1"/>
          <p:nvPr/>
        </p:nvSpPr>
        <p:spPr>
          <a:xfrm>
            <a:off x="487668" y="6156806"/>
            <a:ext cx="11216360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Sources: GAF Master Dashboard, Strategic Priorities tab (Asana, Sprint Q1FY27, progress = completed subtasks, 19 Oct); Q1 FY27 OPSP critical numbers, frozen at 30 Sep. Bands run red, yellow, green, super green.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87668" y="365751"/>
            <a:ext cx="6857829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400" kern="0" dirty="0">
                <a:solidFill>
                  <a:srgbClr val="F2642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QUARTER 2 FY27 PLAN</a:t>
            </a:r>
            <a:endParaRPr lang="en-US" sz="780" dirty="0"/>
          </a:p>
        </p:txBody>
      </p:sp>
      <p:sp>
        <p:nvSpPr>
          <p:cNvPr id="3" name="Text 1"/>
          <p:cNvSpPr txBox="1"/>
          <p:nvPr/>
        </p:nvSpPr>
        <p:spPr>
          <a:xfrm>
            <a:off x="487668" y="579106"/>
            <a:ext cx="11216360" cy="487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Q2: LOCKED, STOCKED, LOADED</a:t>
            </a:r>
            <a:endParaRPr lang="en-US" sz="2880" dirty="0"/>
          </a:p>
        </p:txBody>
      </p:sp>
      <p:sp>
        <p:nvSpPr>
          <p:cNvPr id="4" name="Text 2"/>
          <p:cNvSpPr txBox="1"/>
          <p:nvPr/>
        </p:nvSpPr>
        <p:spPr>
          <a:xfrm>
            <a:off x="487668" y="1066773"/>
            <a:ext cx="8381790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Oct to 31 Dec 2026, quarter to date at 19 Oct. Black Friday runs 2 to 30 November.</a:t>
            </a:r>
            <a:endParaRPr lang="en-US" sz="960" dirty="0"/>
          </a:p>
        </p:txBody>
      </p:sp>
      <p:pic>
        <p:nvPicPr>
          <p:cNvPr id="5" name="Image 0" descr="logo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8" y="6446359"/>
            <a:ext cx="594345" cy="2133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7668" y="1432524"/>
            <a:ext cx="6469218" cy="4632844"/>
          </a:xfrm>
          <a:prstGeom prst="roundRect">
            <a:avLst>
              <a:gd name="adj" fmla="val 1316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0543" y="163825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STRATEGIC INITIATIVES</a:t>
            </a:r>
            <a:endParaRPr lang="en-US" sz="780" dirty="0"/>
          </a:p>
        </p:txBody>
      </p:sp>
      <p:sp>
        <p:nvSpPr>
          <p:cNvPr id="8" name="Text 5"/>
          <p:cNvSpPr txBox="1"/>
          <p:nvPr/>
        </p:nvSpPr>
        <p:spPr>
          <a:xfrm>
            <a:off x="5432924" y="1623019"/>
            <a:ext cx="1341086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31 Dec</a:t>
            </a:r>
            <a:endParaRPr lang="en-US" sz="840" dirty="0"/>
          </a:p>
        </p:txBody>
      </p:sp>
      <p:sp>
        <p:nvSpPr>
          <p:cNvPr id="9" name="Shape 6"/>
          <p:cNvSpPr/>
          <p:nvPr/>
        </p:nvSpPr>
        <p:spPr>
          <a:xfrm>
            <a:off x="670543" y="1904952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39" y="1996390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Faster bundle builds to lift website AOV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722477" y="1981150"/>
            <a:ext cx="899138" cy="213355"/>
          </a:xfrm>
          <a:prstGeom prst="roundRect">
            <a:avLst>
              <a:gd name="adj" fmla="val 50000"/>
            </a:avLst>
          </a:prstGeom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22477" y="1981150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STUCK</a:t>
            </a:r>
            <a:endParaRPr lang="en-US" sz="660" dirty="0"/>
          </a:p>
        </p:txBody>
      </p:sp>
      <p:sp>
        <p:nvSpPr>
          <p:cNvPr id="13" name="Shape 10"/>
          <p:cNvSpPr/>
          <p:nvPr/>
        </p:nvSpPr>
        <p:spPr>
          <a:xfrm>
            <a:off x="822939" y="2331662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39" y="2331662"/>
            <a:ext cx="961620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22477" y="2278323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20% · 1/5</a:t>
            </a:r>
            <a:endParaRPr lang="en-US" sz="840" dirty="0"/>
          </a:p>
        </p:txBody>
      </p:sp>
      <p:sp>
        <p:nvSpPr>
          <p:cNvPr id="16" name="Text 13"/>
          <p:cNvSpPr txBox="1"/>
          <p:nvPr/>
        </p:nvSpPr>
        <p:spPr>
          <a:xfrm>
            <a:off x="822939" y="2514537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AOV above $2,200 by 31 Dec. App trial due 28 Oct, 14 new bundles live by 13 Nov.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Shanice Thomas</a:t>
            </a:r>
            <a:endParaRPr lang="en-US" sz="960" dirty="0"/>
          </a:p>
        </p:txBody>
      </p:sp>
      <p:sp>
        <p:nvSpPr>
          <p:cNvPr id="17" name="Shape 14"/>
          <p:cNvSpPr/>
          <p:nvPr/>
        </p:nvSpPr>
        <p:spPr>
          <a:xfrm>
            <a:off x="670543" y="2895528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39" y="2986965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Retail channel costs and benefits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722477" y="2971726"/>
            <a:ext cx="899138" cy="213355"/>
          </a:xfrm>
          <a:prstGeom prst="roundRect">
            <a:avLst>
              <a:gd name="adj" fmla="val 50000"/>
            </a:avLst>
          </a:prstGeom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22477" y="2971726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822939" y="332223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722477" y="3268898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0% · 0/5</a:t>
            </a:r>
            <a:endParaRPr lang="en-US" sz="840" dirty="0"/>
          </a:p>
        </p:txBody>
      </p:sp>
      <p:sp>
        <p:nvSpPr>
          <p:cNvPr id="23" name="Text 20"/>
          <p:cNvSpPr txBox="1"/>
          <p:nvPr/>
        </p:nvSpPr>
        <p:spPr>
          <a:xfrm>
            <a:off x="822939" y="3505112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plan due 4 Dec. 1 step overdue.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Joel Larter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70543" y="3886103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39" y="3977541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12-month Tier 1 supplier forecast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5722477" y="3962301"/>
            <a:ext cx="899138" cy="213355"/>
          </a:xfrm>
          <a:prstGeom prst="roundRect">
            <a:avLst>
              <a:gd name="adj" fmla="val 50000"/>
            </a:avLst>
          </a:prstGeom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722477" y="3962301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660" dirty="0"/>
          </a:p>
        </p:txBody>
      </p:sp>
      <p:sp>
        <p:nvSpPr>
          <p:cNvPr id="28" name="Shape 25"/>
          <p:cNvSpPr/>
          <p:nvPr/>
        </p:nvSpPr>
        <p:spPr>
          <a:xfrm>
            <a:off x="822939" y="4312812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722477" y="4259474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0% · 0/3</a:t>
            </a:r>
            <a:endParaRPr lang="en-US" sz="840" dirty="0"/>
          </a:p>
        </p:txBody>
      </p:sp>
      <p:sp>
        <p:nvSpPr>
          <p:cNvPr id="30" name="Text 27"/>
          <p:cNvSpPr txBox="1"/>
          <p:nvPr/>
        </p:nvSpPr>
        <p:spPr>
          <a:xfrm>
            <a:off x="822939" y="4495688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Fewer stockouts, less excess. Priority suppliers named by 30 Oct.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Michelle Wiseman</a:t>
            </a:r>
            <a:endParaRPr lang="en-US" sz="960" dirty="0"/>
          </a:p>
        </p:txBody>
      </p:sp>
      <p:sp>
        <p:nvSpPr>
          <p:cNvPr id="31" name="Shape 28"/>
          <p:cNvSpPr/>
          <p:nvPr/>
        </p:nvSpPr>
        <p:spPr>
          <a:xfrm>
            <a:off x="670543" y="4876678"/>
            <a:ext cx="6103467" cy="89913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2939" y="4968116"/>
            <a:ext cx="4571886" cy="1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Experience Centre sales and content plan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5722477" y="4952876"/>
            <a:ext cx="899138" cy="213355"/>
          </a:xfrm>
          <a:prstGeom prst="roundRect">
            <a:avLst>
              <a:gd name="adj" fmla="val 50000"/>
            </a:avLst>
          </a:prstGeom>
          <a:ln w="12700">
            <a:solidFill>
              <a:srgbClr val="E2E2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722477" y="4952876"/>
            <a:ext cx="899138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5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TRACK</a:t>
            </a:r>
            <a:endParaRPr lang="en-US" sz="660" dirty="0"/>
          </a:p>
        </p:txBody>
      </p:sp>
      <p:sp>
        <p:nvSpPr>
          <p:cNvPr id="35" name="Shape 32"/>
          <p:cNvSpPr/>
          <p:nvPr/>
        </p:nvSpPr>
        <p:spPr>
          <a:xfrm>
            <a:off x="822939" y="5303387"/>
            <a:ext cx="4808100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36" name="Shape 33"/>
          <p:cNvSpPr/>
          <p:nvPr/>
        </p:nvSpPr>
        <p:spPr>
          <a:xfrm>
            <a:off x="822939" y="5303387"/>
            <a:ext cx="1803037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5722477" y="5250049"/>
            <a:ext cx="899138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38% · 3/8</a:t>
            </a:r>
            <a:endParaRPr lang="en-US" sz="840" dirty="0"/>
          </a:p>
        </p:txBody>
      </p:sp>
      <p:sp>
        <p:nvSpPr>
          <p:cNvPr id="38" name="Text 35"/>
          <p:cNvSpPr txBox="1"/>
          <p:nvPr/>
        </p:nvSpPr>
        <p:spPr>
          <a:xfrm>
            <a:off x="822939" y="5486263"/>
            <a:ext cx="5791055" cy="213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+20% walk-ins, +15% orders by 31 Mar. Baseline, targets, sales briefing done. </a:t>
            </a:r>
            <a:pPr algn="l" indent="0" marL="0">
              <a:buNone/>
            </a:pPr>
            <a:r>
              <a:rPr lang="en-US" sz="84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Adam Carter</a:t>
            </a:r>
            <a:endParaRPr lang="en-US" sz="960" dirty="0"/>
          </a:p>
        </p:txBody>
      </p:sp>
      <p:sp>
        <p:nvSpPr>
          <p:cNvPr id="39" name="Shape 36"/>
          <p:cNvSpPr/>
          <p:nvPr/>
        </p:nvSpPr>
        <p:spPr>
          <a:xfrm>
            <a:off x="7139762" y="1432524"/>
            <a:ext cx="4564266" cy="4632844"/>
          </a:xfrm>
          <a:prstGeom prst="roundRect">
            <a:avLst>
              <a:gd name="adj" fmla="val 1336"/>
            </a:avLst>
          </a:prstGeom>
          <a:solidFill>
            <a:srgbClr val="F0F0F0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322637" y="1638259"/>
            <a:ext cx="3047924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0" kern="0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CRITICAL NUMBERS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9791455" y="1607780"/>
            <a:ext cx="1729697" cy="243834"/>
          </a:xfrm>
          <a:prstGeom prst="roundRect">
            <a:avLst>
              <a:gd name="adj" fmla="val 43750"/>
            </a:avLst>
          </a:prstGeom>
          <a:solidFill>
            <a:srgbClr val="F26422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9791455" y="1607780"/>
            <a:ext cx="1729697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rate 81.7% to 95.5%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7322637" y="1996390"/>
            <a:ext cx="4198515" cy="124964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475033" y="2103067"/>
            <a:ext cx="2285943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Inventory fill rate</a:t>
            </a:r>
            <a:endParaRPr lang="en-US" sz="960" dirty="0"/>
          </a:p>
        </p:txBody>
      </p:sp>
      <p:sp>
        <p:nvSpPr>
          <p:cNvPr id="45" name="Text 42"/>
          <p:cNvSpPr txBox="1"/>
          <p:nvPr/>
        </p:nvSpPr>
        <p:spPr>
          <a:xfrm>
            <a:off x="9844794" y="2118307"/>
            <a:ext cx="152396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95.5%</a:t>
            </a:r>
            <a:endParaRPr lang="en-US" sz="780" dirty="0"/>
          </a:p>
        </p:txBody>
      </p:sp>
      <p:sp>
        <p:nvSpPr>
          <p:cNvPr id="46" name="Text 43"/>
          <p:cNvSpPr txBox="1"/>
          <p:nvPr/>
        </p:nvSpPr>
        <p:spPr>
          <a:xfrm>
            <a:off x="7475033" y="2301182"/>
            <a:ext cx="1981150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85.2%</a:t>
            </a:r>
            <a:endParaRPr lang="en-US" sz="2400" dirty="0"/>
          </a:p>
        </p:txBody>
      </p:sp>
      <p:sp>
        <p:nvSpPr>
          <p:cNvPr id="47" name="Text 44"/>
          <p:cNvSpPr txBox="1"/>
          <p:nvPr/>
        </p:nvSpPr>
        <p:spPr>
          <a:xfrm>
            <a:off x="9387605" y="2468818"/>
            <a:ext cx="198115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week 16, up from 81.7%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7475033" y="2773611"/>
            <a:ext cx="3893723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49" name="Shape 46"/>
          <p:cNvSpPr/>
          <p:nvPr/>
        </p:nvSpPr>
        <p:spPr>
          <a:xfrm>
            <a:off x="7475033" y="2773611"/>
            <a:ext cx="987538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50" name="Shape 47"/>
          <p:cNvSpPr/>
          <p:nvPr/>
        </p:nvSpPr>
        <p:spPr>
          <a:xfrm>
            <a:off x="8271552" y="2735512"/>
            <a:ext cx="15240" cy="1523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7475033" y="2895528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81.7%</a:t>
            </a:r>
            <a:endParaRPr lang="en-US" sz="660" dirty="0"/>
          </a:p>
        </p:txBody>
      </p:sp>
      <p:sp>
        <p:nvSpPr>
          <p:cNvPr id="52" name="Text 49"/>
          <p:cNvSpPr txBox="1"/>
          <p:nvPr/>
        </p:nvSpPr>
        <p:spPr>
          <a:xfrm>
            <a:off x="7898181" y="2895528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glide path</a:t>
            </a:r>
            <a:endParaRPr lang="en-US" sz="660" dirty="0"/>
          </a:p>
        </p:txBody>
      </p:sp>
      <p:sp>
        <p:nvSpPr>
          <p:cNvPr id="53" name="Text 50"/>
          <p:cNvSpPr txBox="1"/>
          <p:nvPr/>
        </p:nvSpPr>
        <p:spPr>
          <a:xfrm>
            <a:off x="10606775" y="2895528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95.5%</a:t>
            </a:r>
            <a:endParaRPr lang="en-US" sz="660" dirty="0"/>
          </a:p>
        </p:txBody>
      </p:sp>
      <p:sp>
        <p:nvSpPr>
          <p:cNvPr id="54" name="Text 51"/>
          <p:cNvSpPr txBox="1"/>
          <p:nvPr/>
        </p:nvSpPr>
        <p:spPr>
          <a:xfrm>
            <a:off x="7475033" y="3047924"/>
            <a:ext cx="3893723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AHEAD OF GLIDE PATH  </a:t>
            </a:r>
            <a:pPr algn="l" indent="0" marL="0">
              <a:buNone/>
            </a:pPr>
            <a:r>
              <a:rPr lang="en-US" sz="72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Red below 90% at quarter end</a:t>
            </a:r>
            <a:endParaRPr lang="en-US" sz="960" dirty="0"/>
          </a:p>
        </p:txBody>
      </p:sp>
      <p:sp>
        <p:nvSpPr>
          <p:cNvPr id="55" name="Shape 52"/>
          <p:cNvSpPr/>
          <p:nvPr/>
        </p:nvSpPr>
        <p:spPr>
          <a:xfrm>
            <a:off x="7322637" y="3337477"/>
            <a:ext cx="4198515" cy="124964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475033" y="3444154"/>
            <a:ext cx="2285943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GAF IDC GP%</a:t>
            </a:r>
            <a:endParaRPr lang="en-US" sz="960" dirty="0"/>
          </a:p>
        </p:txBody>
      </p:sp>
      <p:sp>
        <p:nvSpPr>
          <p:cNvPr id="57" name="Text 54"/>
          <p:cNvSpPr txBox="1"/>
          <p:nvPr/>
        </p:nvSpPr>
        <p:spPr>
          <a:xfrm>
            <a:off x="9844794" y="3459394"/>
            <a:ext cx="152396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Goal above 42%</a:t>
            </a:r>
            <a:endParaRPr lang="en-US" sz="780" dirty="0"/>
          </a:p>
        </p:txBody>
      </p:sp>
      <p:sp>
        <p:nvSpPr>
          <p:cNvPr id="58" name="Text 55"/>
          <p:cNvSpPr txBox="1"/>
          <p:nvPr/>
        </p:nvSpPr>
        <p:spPr>
          <a:xfrm>
            <a:off x="7475033" y="3642269"/>
            <a:ext cx="1981150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41.4%</a:t>
            </a:r>
            <a:endParaRPr lang="en-US" sz="2400" dirty="0"/>
          </a:p>
        </p:txBody>
      </p:sp>
      <p:sp>
        <p:nvSpPr>
          <p:cNvPr id="59" name="Text 56"/>
          <p:cNvSpPr txBox="1"/>
          <p:nvPr/>
        </p:nvSpPr>
        <p:spPr>
          <a:xfrm>
            <a:off x="9387605" y="3809905"/>
            <a:ext cx="198115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 dispatch days to 19 Oct</a:t>
            </a:r>
            <a:endParaRPr lang="en-US" sz="780" dirty="0"/>
          </a:p>
        </p:txBody>
      </p:sp>
      <p:sp>
        <p:nvSpPr>
          <p:cNvPr id="60" name="Shape 57"/>
          <p:cNvSpPr/>
          <p:nvPr/>
        </p:nvSpPr>
        <p:spPr>
          <a:xfrm>
            <a:off x="7475033" y="4114697"/>
            <a:ext cx="3893723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61" name="Shape 58"/>
          <p:cNvSpPr/>
          <p:nvPr/>
        </p:nvSpPr>
        <p:spPr>
          <a:xfrm>
            <a:off x="7475033" y="4114697"/>
            <a:ext cx="2206443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2" name="Shape 59"/>
          <p:cNvSpPr/>
          <p:nvPr/>
        </p:nvSpPr>
        <p:spPr>
          <a:xfrm>
            <a:off x="10063228" y="4076598"/>
            <a:ext cx="15240" cy="1523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3" name="Text 60"/>
          <p:cNvSpPr txBox="1"/>
          <p:nvPr/>
        </p:nvSpPr>
        <p:spPr>
          <a:xfrm>
            <a:off x="7475033" y="4236614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38%</a:t>
            </a:r>
            <a:endParaRPr lang="en-US" sz="660" dirty="0"/>
          </a:p>
        </p:txBody>
      </p:sp>
      <p:sp>
        <p:nvSpPr>
          <p:cNvPr id="64" name="Text 61"/>
          <p:cNvSpPr txBox="1"/>
          <p:nvPr/>
        </p:nvSpPr>
        <p:spPr>
          <a:xfrm>
            <a:off x="9689858" y="4236614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42%</a:t>
            </a:r>
            <a:endParaRPr lang="en-US" sz="660" dirty="0"/>
          </a:p>
        </p:txBody>
      </p:sp>
      <p:sp>
        <p:nvSpPr>
          <p:cNvPr id="65" name="Text 62"/>
          <p:cNvSpPr txBox="1"/>
          <p:nvPr/>
        </p:nvSpPr>
        <p:spPr>
          <a:xfrm>
            <a:off x="10606775" y="4236614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44%</a:t>
            </a:r>
            <a:endParaRPr lang="en-US" sz="660" dirty="0"/>
          </a:p>
        </p:txBody>
      </p:sp>
      <p:sp>
        <p:nvSpPr>
          <p:cNvPr id="66" name="Text 63"/>
          <p:cNvSpPr txBox="1"/>
          <p:nvPr/>
        </p:nvSpPr>
        <p:spPr>
          <a:xfrm>
            <a:off x="7475033" y="4389010"/>
            <a:ext cx="3893723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YELLOW  </a:t>
            </a:r>
            <a:pPr algn="l" indent="0" marL="0">
              <a:buNone/>
            </a:pPr>
            <a:r>
              <a:rPr lang="en-US" sz="72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Needs about 42.1% from here</a:t>
            </a:r>
            <a:endParaRPr lang="en-US" sz="960" dirty="0"/>
          </a:p>
        </p:txBody>
      </p:sp>
      <p:sp>
        <p:nvSpPr>
          <p:cNvPr id="67" name="Shape 64"/>
          <p:cNvSpPr/>
          <p:nvPr/>
        </p:nvSpPr>
        <p:spPr>
          <a:xfrm>
            <a:off x="7322637" y="4678563"/>
            <a:ext cx="4198515" cy="1249649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E2E2E2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7475033" y="4785240"/>
            <a:ext cx="2285943" cy="16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555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Gym designs created</a:t>
            </a:r>
            <a:endParaRPr lang="en-US" sz="960" dirty="0"/>
          </a:p>
        </p:txBody>
      </p:sp>
      <p:sp>
        <p:nvSpPr>
          <p:cNvPr id="69" name="Text 66"/>
          <p:cNvSpPr txBox="1"/>
          <p:nvPr/>
        </p:nvSpPr>
        <p:spPr>
          <a:xfrm>
            <a:off x="9844794" y="4800480"/>
            <a:ext cx="1523962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200</a:t>
            </a:r>
            <a:endParaRPr lang="en-US" sz="780" dirty="0"/>
          </a:p>
        </p:txBody>
      </p:sp>
      <p:sp>
        <p:nvSpPr>
          <p:cNvPr id="70" name="Text 67"/>
          <p:cNvSpPr txBox="1"/>
          <p:nvPr/>
        </p:nvSpPr>
        <p:spPr>
          <a:xfrm>
            <a:off x="7475033" y="4983355"/>
            <a:ext cx="1981150" cy="365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51</a:t>
            </a:r>
            <a:endParaRPr lang="en-US" sz="2400" dirty="0"/>
          </a:p>
        </p:txBody>
      </p:sp>
      <p:sp>
        <p:nvSpPr>
          <p:cNvPr id="71" name="Text 68"/>
          <p:cNvSpPr txBox="1"/>
          <p:nvPr/>
        </p:nvSpPr>
        <p:spPr>
          <a:xfrm>
            <a:off x="9387605" y="5150991"/>
            <a:ext cx="198115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8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quarter, 155 all time</a:t>
            </a:r>
            <a:endParaRPr lang="en-US" sz="780" dirty="0"/>
          </a:p>
        </p:txBody>
      </p:sp>
      <p:sp>
        <p:nvSpPr>
          <p:cNvPr id="72" name="Shape 69"/>
          <p:cNvSpPr/>
          <p:nvPr/>
        </p:nvSpPr>
        <p:spPr>
          <a:xfrm>
            <a:off x="7475033" y="5455784"/>
            <a:ext cx="3893723" cy="76198"/>
          </a:xfrm>
          <a:prstGeom prst="roundRect">
            <a:avLst>
              <a:gd name="adj" fmla="val 50000"/>
            </a:avLst>
          </a:prstGeom>
          <a:solidFill>
            <a:srgbClr val="E2E2E2"/>
          </a:solidFill>
          <a:ln/>
        </p:spPr>
      </p:sp>
      <p:sp>
        <p:nvSpPr>
          <p:cNvPr id="73" name="Shape 70"/>
          <p:cNvSpPr/>
          <p:nvPr/>
        </p:nvSpPr>
        <p:spPr>
          <a:xfrm>
            <a:off x="7475033" y="5455784"/>
            <a:ext cx="992899" cy="7619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4" name="Shape 71"/>
          <p:cNvSpPr/>
          <p:nvPr/>
        </p:nvSpPr>
        <p:spPr>
          <a:xfrm>
            <a:off x="8271552" y="5417685"/>
            <a:ext cx="15240" cy="1523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5" name="Text 72"/>
          <p:cNvSpPr txBox="1"/>
          <p:nvPr/>
        </p:nvSpPr>
        <p:spPr>
          <a:xfrm>
            <a:off x="7475033" y="5577701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</a:t>
            </a:r>
            <a:endParaRPr lang="en-US" sz="660" dirty="0"/>
          </a:p>
        </p:txBody>
      </p:sp>
      <p:sp>
        <p:nvSpPr>
          <p:cNvPr id="76" name="Text 73"/>
          <p:cNvSpPr txBox="1"/>
          <p:nvPr/>
        </p:nvSpPr>
        <p:spPr>
          <a:xfrm>
            <a:off x="7898181" y="5577701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pace 41</a:t>
            </a:r>
            <a:endParaRPr lang="en-US" sz="660" dirty="0"/>
          </a:p>
        </p:txBody>
      </p:sp>
      <p:sp>
        <p:nvSpPr>
          <p:cNvPr id="77" name="Text 74"/>
          <p:cNvSpPr txBox="1"/>
          <p:nvPr/>
        </p:nvSpPr>
        <p:spPr>
          <a:xfrm>
            <a:off x="10606775" y="5577701"/>
            <a:ext cx="761981" cy="106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</a:t>
            </a:r>
            <a:endParaRPr lang="en-US" sz="660" dirty="0"/>
          </a:p>
        </p:txBody>
      </p:sp>
      <p:sp>
        <p:nvSpPr>
          <p:cNvPr id="78" name="Text 75"/>
          <p:cNvSpPr txBox="1"/>
          <p:nvPr/>
        </p:nvSpPr>
        <p:spPr>
          <a:xfrm>
            <a:off x="7475033" y="5730097"/>
            <a:ext cx="3893723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PACE  </a:t>
            </a:r>
            <a:pPr algn="l" indent="0" marL="0">
              <a:buNone/>
            </a:pPr>
            <a:r>
              <a:rPr lang="en-US" sz="72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Needs about 14 a week from here</a:t>
            </a:r>
            <a:endParaRPr lang="en-US" sz="960" dirty="0"/>
          </a:p>
        </p:txBody>
      </p:sp>
      <p:sp>
        <p:nvSpPr>
          <p:cNvPr id="79" name="Text 76"/>
          <p:cNvSpPr txBox="1"/>
          <p:nvPr/>
        </p:nvSpPr>
        <p:spPr>
          <a:xfrm>
            <a:off x="487668" y="6156806"/>
            <a:ext cx="11216360" cy="137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71717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Sources: GAF Master Dashboard, Strategic Priorities tab (Asana, Sprint Q2FY27, completed subtasks, 19 Oct); Q2 FY27 OPSP and Foundation doc bands; Fill Rate Report FY27 (week 16); designer app stats; GAF DATA fulfilled margin, $-weighted.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Gym and Fitness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GAF Strategy Overview: FY27, Q1 and Q2</dc:title>
  <dc:subject>PptxGenJS Presentation</dc:subject>
  <dc:creator>PptxGenJS</dc:creator>
  <cp:lastModifiedBy>PptxGenJS</cp:lastModifiedBy>
  <cp:revision>1</cp:revision>
  <dcterms:created xsi:type="dcterms:W3CDTF">2026-10-19T07:49:09Z</dcterms:created>
  <dcterms:modified xsi:type="dcterms:W3CDTF">2026-10-19T07:49:09Z</dcterms:modified>
</cp:coreProperties>
</file>